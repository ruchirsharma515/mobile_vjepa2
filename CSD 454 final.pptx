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299" r:id="rId6"/>
    <p:sldId id="296" r:id="rId7"/>
    <p:sldId id="297" r:id="rId8"/>
    <p:sldId id="298" r:id="rId9"/>
    <p:sldId id="300" r:id="rId10"/>
    <p:sldId id="301" r:id="rId11"/>
    <p:sldId id="302" r:id="rId12"/>
    <p:sldId id="303" r:id="rId13"/>
    <p:sldId id="304" r:id="rId14"/>
    <p:sldId id="305" r:id="rId15"/>
    <p:sldId id="306" r:id="rId16"/>
    <p:sldId id="307" r:id="rId17"/>
    <p:sldId id="311" r:id="rId18"/>
    <p:sldId id="309" r:id="rId19"/>
    <p:sldId id="312" r:id="rId20"/>
    <p:sldId id="308" r:id="rId21"/>
    <p:sldId id="31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98C4CC-A421-4F16-9A1C-E61B40224E30}">
          <p14:sldIdLst>
            <p14:sldId id="293"/>
            <p14:sldId id="299"/>
            <p14:sldId id="296"/>
            <p14:sldId id="297"/>
            <p14:sldId id="298"/>
            <p14:sldId id="300"/>
            <p14:sldId id="301"/>
            <p14:sldId id="302"/>
            <p14:sldId id="303"/>
            <p14:sldId id="304"/>
            <p14:sldId id="305"/>
            <p14:sldId id="306"/>
            <p14:sldId id="307"/>
            <p14:sldId id="311"/>
            <p14:sldId id="309"/>
            <p14:sldId id="312"/>
            <p14:sldId id="308"/>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p:scale>
          <a:sx n="72" d="100"/>
          <a:sy n="72" d="100"/>
        </p:scale>
        <p:origin x="11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chir Sharma" userId="bb86639558233268" providerId="LiveId" clId="{8EF81051-2DBB-4C3B-A8F8-6E7587BD0651}"/>
    <pc:docChg chg="modSld">
      <pc:chgData name="Ruchir Sharma" userId="bb86639558233268" providerId="LiveId" clId="{8EF81051-2DBB-4C3B-A8F8-6E7587BD0651}" dt="2026-04-28T18:09:49.150" v="6" actId="20577"/>
      <pc:docMkLst>
        <pc:docMk/>
      </pc:docMkLst>
      <pc:sldChg chg="modSp mod">
        <pc:chgData name="Ruchir Sharma" userId="bb86639558233268" providerId="LiveId" clId="{8EF81051-2DBB-4C3B-A8F8-6E7587BD0651}" dt="2026-04-28T16:10:05.839" v="0" actId="2711"/>
        <pc:sldMkLst>
          <pc:docMk/>
          <pc:sldMk cId="2934028112" sldId="296"/>
        </pc:sldMkLst>
        <pc:spChg chg="mod">
          <ac:chgData name="Ruchir Sharma" userId="bb86639558233268" providerId="LiveId" clId="{8EF81051-2DBB-4C3B-A8F8-6E7587BD0651}" dt="2026-04-28T16:10:05.839" v="0" actId="2711"/>
          <ac:spMkLst>
            <pc:docMk/>
            <pc:sldMk cId="2934028112" sldId="296"/>
            <ac:spMk id="2" creationId="{F25E1C8A-AF35-3CD7-7FD6-948EF87A9D67}"/>
          </ac:spMkLst>
        </pc:spChg>
      </pc:sldChg>
      <pc:sldChg chg="modSp mod">
        <pc:chgData name="Ruchir Sharma" userId="bb86639558233268" providerId="LiveId" clId="{8EF81051-2DBB-4C3B-A8F8-6E7587BD0651}" dt="2026-04-28T18:09:49.150" v="6" actId="20577"/>
        <pc:sldMkLst>
          <pc:docMk/>
          <pc:sldMk cId="3206491467" sldId="308"/>
        </pc:sldMkLst>
        <pc:spChg chg="mod">
          <ac:chgData name="Ruchir Sharma" userId="bb86639558233268" providerId="LiveId" clId="{8EF81051-2DBB-4C3B-A8F8-6E7587BD0651}" dt="2026-04-28T18:09:49.150" v="6" actId="20577"/>
          <ac:spMkLst>
            <pc:docMk/>
            <pc:sldMk cId="3206491467" sldId="308"/>
            <ac:spMk id="3" creationId="{34B79FEA-773F-F469-6B18-9FEDE2CF7F88}"/>
          </ac:spMkLst>
        </pc:spChg>
      </pc:sldChg>
      <pc:sldChg chg="modSp mod">
        <pc:chgData name="Ruchir Sharma" userId="bb86639558233268" providerId="LiveId" clId="{8EF81051-2DBB-4C3B-A8F8-6E7587BD0651}" dt="2026-04-28T18:02:10.395" v="2" actId="14100"/>
        <pc:sldMkLst>
          <pc:docMk/>
          <pc:sldMk cId="3734022554" sldId="309"/>
        </pc:sldMkLst>
        <pc:picChg chg="mod">
          <ac:chgData name="Ruchir Sharma" userId="bb86639558233268" providerId="LiveId" clId="{8EF81051-2DBB-4C3B-A8F8-6E7587BD0651}" dt="2026-04-28T18:02:10.395" v="2" actId="14100"/>
          <ac:picMkLst>
            <pc:docMk/>
            <pc:sldMk cId="3734022554" sldId="309"/>
            <ac:picMk id="5" creationId="{BFB8AF10-7A16-7F30-FC23-5099AA33E17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4/28/2026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7134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8040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4/28/2026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5796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1998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68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19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9782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4/28/2026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688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4/28/2026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9130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030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9999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4/28/2026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1321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506.09985" TargetMode="External"/><Relationship Id="rId2" Type="http://schemas.openxmlformats.org/officeDocument/2006/relationships/hyperlink" Target="https://arxiv.org/abs/2012.1287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73848-91FE-4D29-B0DC-BFC408416682}"/>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839"/>
            <a:ext cx="12191980" cy="6858000"/>
          </a:xfrm>
          <a:prstGeom prst="rect">
            <a:avLst/>
          </a:prstGeom>
        </p:spPr>
      </p:pic>
      <p:sp>
        <p:nvSpPr>
          <p:cNvPr id="89" name="Rectangle 8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91" name="Rectangle 9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fontScale="90000"/>
          </a:bodyPr>
          <a:lstStyle/>
          <a:p>
            <a:r>
              <a:rPr lang="en-US" sz="4400" dirty="0">
                <a:solidFill>
                  <a:schemeClr val="tx1"/>
                </a:solidFill>
              </a:rPr>
              <a:t>CSD 454 </a:t>
            </a:r>
            <a:br>
              <a:rPr lang="en-US" sz="4400" dirty="0">
                <a:solidFill>
                  <a:schemeClr val="tx1"/>
                </a:solidFill>
              </a:rPr>
            </a:br>
            <a:r>
              <a:rPr lang="en-US" sz="4400" dirty="0">
                <a:solidFill>
                  <a:schemeClr val="tx1"/>
                </a:solidFill>
              </a:rPr>
              <a:t>COMPUTER VISION</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a:normAutofit fontScale="92500" lnSpcReduction="20000"/>
          </a:bodyPr>
          <a:lstStyle/>
          <a:p>
            <a:pPr>
              <a:spcAft>
                <a:spcPts val="600"/>
              </a:spcAft>
            </a:pPr>
            <a:r>
              <a:rPr lang="en-US" dirty="0">
                <a:solidFill>
                  <a:schemeClr val="tx1"/>
                </a:solidFill>
              </a:rPr>
              <a:t>Faculty Mentors- Dr. Sumit Sekhar and Dr. Saurabh </a:t>
            </a:r>
            <a:r>
              <a:rPr lang="en-US" dirty="0" err="1">
                <a:solidFill>
                  <a:schemeClr val="tx1"/>
                </a:solidFill>
              </a:rPr>
              <a:t>Shigwan</a:t>
            </a:r>
            <a:endParaRPr lang="en-US" dirty="0">
              <a:solidFill>
                <a:schemeClr val="tx1"/>
              </a:solidFill>
            </a:endParaRPr>
          </a:p>
        </p:txBody>
      </p:sp>
    </p:spTree>
    <p:extLst>
      <p:ext uri="{BB962C8B-B14F-4D97-AF65-F5344CB8AC3E}">
        <p14:creationId xmlns:p14="http://schemas.microsoft.com/office/powerpoint/2010/main" val="42696815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B12D-5E37-CBD7-2174-DC8DD88165EE}"/>
              </a:ext>
            </a:extLst>
          </p:cNvPr>
          <p:cNvSpPr>
            <a:spLocks noGrp="1"/>
          </p:cNvSpPr>
          <p:nvPr>
            <p:ph type="title"/>
          </p:nvPr>
        </p:nvSpPr>
        <p:spPr/>
        <p:txBody>
          <a:bodyPr>
            <a:normAutofit/>
          </a:bodyPr>
          <a:lstStyle/>
          <a:p>
            <a:r>
              <a:rPr lang="en-US" b="1" dirty="0">
                <a:cs typeface="Times New Roman" panose="02020603050405020304" pitchFamily="18" charset="0"/>
              </a:rPr>
              <a:t>Efficient On-Device AR Navigation via Knowledge Distillation from VJEPA2</a:t>
            </a:r>
            <a:endParaRPr lang="en-IN" b="1"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3317F5B2-FB87-E3F6-E3ED-D0420A47B000}"/>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 Multi-Task Student Framework for Real-Time Motion Estimation, Obstacle Detection, and Scene Representation using knowledge distillation techniques and reducing the parameters for deployment on mobile devices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830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1C8A-AF35-3CD7-7FD6-948EF87A9D67}"/>
              </a:ext>
            </a:extLst>
          </p:cNvPr>
          <p:cNvSpPr>
            <a:spLocks noGrp="1"/>
          </p:cNvSpPr>
          <p:nvPr>
            <p:ph type="title"/>
          </p:nvPr>
        </p:nvSpPr>
        <p:spPr/>
        <p:txBody>
          <a:bodyPr/>
          <a:lstStyle/>
          <a:p>
            <a:r>
              <a:rPr lang="en-IN" b="1" dirty="0">
                <a:cs typeface="Times New Roman" panose="02020603050405020304" pitchFamily="18" charset="0"/>
              </a:rPr>
              <a:t>Motivation — Why This Problem?</a:t>
            </a:r>
            <a:br>
              <a:rPr lang="en-IN" b="1" dirty="0"/>
            </a:br>
            <a:endParaRPr lang="en-IN" dirty="0"/>
          </a:p>
        </p:txBody>
      </p:sp>
      <p:graphicFrame>
        <p:nvGraphicFramePr>
          <p:cNvPr id="4" name="Content Placeholder 3">
            <a:extLst>
              <a:ext uri="{FF2B5EF4-FFF2-40B4-BE49-F238E27FC236}">
                <a16:creationId xmlns:a16="http://schemas.microsoft.com/office/drawing/2014/main" id="{56DC584D-274B-9464-6091-D05DA70CEE00}"/>
              </a:ext>
            </a:extLst>
          </p:cNvPr>
          <p:cNvGraphicFramePr>
            <a:graphicFrameLocks noGrp="1"/>
          </p:cNvGraphicFramePr>
          <p:nvPr>
            <p:ph idx="1"/>
            <p:extLst>
              <p:ext uri="{D42A27DB-BD31-4B8C-83A1-F6EECF244321}">
                <p14:modId xmlns:p14="http://schemas.microsoft.com/office/powerpoint/2010/main" val="2966765428"/>
              </p:ext>
            </p:extLst>
          </p:nvPr>
        </p:nvGraphicFramePr>
        <p:xfrm>
          <a:off x="845573" y="2399070"/>
          <a:ext cx="10687666" cy="3183688"/>
        </p:xfrm>
        <a:graphic>
          <a:graphicData uri="http://schemas.openxmlformats.org/drawingml/2006/table">
            <a:tbl>
              <a:tblPr>
                <a:tableStyleId>{B301B821-A1FF-4177-AEE7-76D212191A09}</a:tableStyleId>
              </a:tblPr>
              <a:tblGrid>
                <a:gridCol w="5343833">
                  <a:extLst>
                    <a:ext uri="{9D8B030D-6E8A-4147-A177-3AD203B41FA5}">
                      <a16:colId xmlns:a16="http://schemas.microsoft.com/office/drawing/2014/main" val="3914157004"/>
                    </a:ext>
                  </a:extLst>
                </a:gridCol>
                <a:gridCol w="5343833">
                  <a:extLst>
                    <a:ext uri="{9D8B030D-6E8A-4147-A177-3AD203B41FA5}">
                      <a16:colId xmlns:a16="http://schemas.microsoft.com/office/drawing/2014/main" val="3507579149"/>
                    </a:ext>
                  </a:extLst>
                </a:gridCol>
              </a:tblGrid>
              <a:tr h="374551">
                <a:tc>
                  <a:txBody>
                    <a:bodyPr/>
                    <a:lstStyle/>
                    <a:p>
                      <a:pPr fontAlgn="b">
                        <a:buNone/>
                      </a:pPr>
                      <a:r>
                        <a:rPr lang="en-IN" b="1">
                          <a:solidFill>
                            <a:schemeClr val="tx1"/>
                          </a:solidFill>
                          <a:effectLst/>
                        </a:rPr>
                        <a:t>Challenge</a:t>
                      </a:r>
                      <a:endParaRPr lang="en-IN" b="1">
                        <a:solidFill>
                          <a:schemeClr val="tx1"/>
                        </a:solidFill>
                        <a:effectLst/>
                        <a:latin typeface="Times New Roman" panose="02020603050405020304" pitchFamily="18" charset="0"/>
                        <a:cs typeface="Times New Roman" panose="02020603050405020304" pitchFamily="18" charset="0"/>
                      </a:endParaRPr>
                    </a:p>
                  </a:txBody>
                  <a:tcPr anchor="b"/>
                </a:tc>
                <a:tc>
                  <a:txBody>
                    <a:bodyPr/>
                    <a:lstStyle/>
                    <a:p>
                      <a:pPr fontAlgn="b">
                        <a:buNone/>
                      </a:pPr>
                      <a:r>
                        <a:rPr lang="en-IN" b="1" dirty="0">
                          <a:solidFill>
                            <a:schemeClr val="tx1"/>
                          </a:solidFill>
                          <a:effectLst/>
                        </a:rPr>
                        <a:t>Real-World Impact</a:t>
                      </a:r>
                      <a:endParaRPr lang="en-IN" b="1" dirty="0">
                        <a:solidFill>
                          <a:schemeClr val="tx1"/>
                        </a:solidFill>
                        <a:effectLst/>
                        <a:latin typeface="Times New Roman" panose="02020603050405020304" pitchFamily="18" charset="0"/>
                        <a:cs typeface="Times New Roman" panose="02020603050405020304" pitchFamily="18" charset="0"/>
                      </a:endParaRPr>
                    </a:p>
                  </a:txBody>
                  <a:tcPr anchor="b"/>
                </a:tc>
                <a:extLst>
                  <a:ext uri="{0D108BD9-81ED-4DB2-BD59-A6C34878D82A}">
                    <a16:rowId xmlns:a16="http://schemas.microsoft.com/office/drawing/2014/main" val="539147244"/>
                  </a:ext>
                </a:extLst>
              </a:tr>
              <a:tr h="936379">
                <a:tc>
                  <a:txBody>
                    <a:bodyPr/>
                    <a:lstStyle/>
                    <a:p>
                      <a:pPr fontAlgn="base">
                        <a:buNone/>
                      </a:pPr>
                      <a:r>
                        <a:rPr lang="en-IN" dirty="0">
                          <a:solidFill>
                            <a:schemeClr val="tx1"/>
                          </a:solidFill>
                          <a:effectLst/>
                        </a:rPr>
                        <a:t> </a:t>
                      </a:r>
                      <a:r>
                        <a:rPr lang="en-IN" b="1" dirty="0">
                          <a:solidFill>
                            <a:schemeClr val="tx1"/>
                          </a:solidFill>
                          <a:effectLst/>
                        </a:rPr>
                        <a:t>Latency</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fontAlgn="base">
                        <a:buNone/>
                      </a:pPr>
                      <a:r>
                        <a:rPr lang="en-IN" dirty="0">
                          <a:effectLst/>
                        </a:rPr>
                        <a:t>V-JEPA2 (Teacher): ~200-500ms/frame → unusable for AR</a:t>
                      </a:r>
                      <a:endParaRPr lang="en-IN"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95733718"/>
                  </a:ext>
                </a:extLst>
              </a:tr>
              <a:tr h="936379">
                <a:tc>
                  <a:txBody>
                    <a:bodyPr/>
                    <a:lstStyle/>
                    <a:p>
                      <a:pPr fontAlgn="base">
                        <a:buNone/>
                      </a:pPr>
                      <a:r>
                        <a:rPr lang="en-IN" dirty="0">
                          <a:solidFill>
                            <a:schemeClr val="tx1"/>
                          </a:solidFill>
                          <a:effectLst/>
                        </a:rPr>
                        <a:t> </a:t>
                      </a:r>
                      <a:r>
                        <a:rPr lang="en-IN" b="1" dirty="0">
                          <a:solidFill>
                            <a:schemeClr val="tx1"/>
                          </a:solidFill>
                          <a:effectLst/>
                        </a:rPr>
                        <a:t>Compute Budget</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fontAlgn="base">
                        <a:buNone/>
                      </a:pPr>
                      <a:r>
                        <a:rPr lang="en-US" dirty="0">
                          <a:effectLst/>
                        </a:rPr>
                        <a:t>Phones have ~10W TDP; </a:t>
                      </a:r>
                      <a:r>
                        <a:rPr lang="en-US" dirty="0" err="1">
                          <a:effectLst/>
                        </a:rPr>
                        <a:t>ViT</a:t>
                      </a:r>
                      <a:r>
                        <a:rPr lang="en-US" dirty="0">
                          <a:effectLst/>
                        </a:rPr>
                        <a:t>-Large drains battery in minutes</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85958366"/>
                  </a:ext>
                </a:extLst>
              </a:tr>
              <a:tr h="936379">
                <a:tc>
                  <a:txBody>
                    <a:bodyPr/>
                    <a:lstStyle/>
                    <a:p>
                      <a:pPr fontAlgn="base">
                        <a:buNone/>
                      </a:pPr>
                      <a:r>
                        <a:rPr lang="en-IN" dirty="0">
                          <a:solidFill>
                            <a:schemeClr val="tx1"/>
                          </a:solidFill>
                          <a:effectLst/>
                        </a:rPr>
                        <a:t> </a:t>
                      </a:r>
                      <a:r>
                        <a:rPr lang="en-IN" b="1" dirty="0">
                          <a:solidFill>
                            <a:schemeClr val="tx1"/>
                          </a:solidFill>
                          <a:effectLst/>
                        </a:rPr>
                        <a:t>Multi-task overhead</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fontAlgn="base">
                        <a:buNone/>
                      </a:pPr>
                      <a:r>
                        <a:rPr lang="en-US" dirty="0">
                          <a:effectLst/>
                        </a:rPr>
                        <a:t>Running separate models for motion + obstacles + SLAM = 3× cost</a:t>
                      </a:r>
                      <a:endParaRPr lang="en-US"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77283320"/>
                  </a:ext>
                </a:extLst>
              </a:tr>
            </a:tbl>
          </a:graphicData>
        </a:graphic>
      </p:graphicFrame>
    </p:spTree>
    <p:extLst>
      <p:ext uri="{BB962C8B-B14F-4D97-AF65-F5344CB8AC3E}">
        <p14:creationId xmlns:p14="http://schemas.microsoft.com/office/powerpoint/2010/main" val="2934028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67BF-F77A-1CCF-77AB-870EDB6639FF}"/>
              </a:ext>
            </a:extLst>
          </p:cNvPr>
          <p:cNvSpPr>
            <a:spLocks noGrp="1"/>
          </p:cNvSpPr>
          <p:nvPr>
            <p:ph type="title"/>
          </p:nvPr>
        </p:nvSpPr>
        <p:spPr/>
        <p:txBody>
          <a:bodyPr/>
          <a:lstStyle/>
          <a:p>
            <a:r>
              <a:rPr lang="en-IN" b="1" dirty="0"/>
              <a:t>Related Work in this Field ?</a:t>
            </a:r>
          </a:p>
        </p:txBody>
      </p:sp>
      <p:graphicFrame>
        <p:nvGraphicFramePr>
          <p:cNvPr id="4" name="Content Placeholder 3">
            <a:extLst>
              <a:ext uri="{FF2B5EF4-FFF2-40B4-BE49-F238E27FC236}">
                <a16:creationId xmlns:a16="http://schemas.microsoft.com/office/drawing/2014/main" id="{D93B9F8B-FA34-7866-145D-2E1CE9E1F18C}"/>
              </a:ext>
            </a:extLst>
          </p:cNvPr>
          <p:cNvGraphicFramePr>
            <a:graphicFrameLocks noGrp="1"/>
          </p:cNvGraphicFramePr>
          <p:nvPr>
            <p:ph idx="1"/>
            <p:extLst>
              <p:ext uri="{D42A27DB-BD31-4B8C-83A1-F6EECF244321}">
                <p14:modId xmlns:p14="http://schemas.microsoft.com/office/powerpoint/2010/main" val="1871253633"/>
              </p:ext>
            </p:extLst>
          </p:nvPr>
        </p:nvGraphicFramePr>
        <p:xfrm>
          <a:off x="707923" y="2014194"/>
          <a:ext cx="10884309" cy="3164463"/>
        </p:xfrm>
        <a:graphic>
          <a:graphicData uri="http://schemas.openxmlformats.org/drawingml/2006/table">
            <a:tbl>
              <a:tblPr>
                <a:tableStyleId>{BC89EF96-8CEA-46FF-86C4-4CE0E7609802}</a:tableStyleId>
              </a:tblPr>
              <a:tblGrid>
                <a:gridCol w="3628103">
                  <a:extLst>
                    <a:ext uri="{9D8B030D-6E8A-4147-A177-3AD203B41FA5}">
                      <a16:colId xmlns:a16="http://schemas.microsoft.com/office/drawing/2014/main" val="3768726927"/>
                    </a:ext>
                  </a:extLst>
                </a:gridCol>
                <a:gridCol w="3628103">
                  <a:extLst>
                    <a:ext uri="{9D8B030D-6E8A-4147-A177-3AD203B41FA5}">
                      <a16:colId xmlns:a16="http://schemas.microsoft.com/office/drawing/2014/main" val="2764135902"/>
                    </a:ext>
                  </a:extLst>
                </a:gridCol>
                <a:gridCol w="3628103">
                  <a:extLst>
                    <a:ext uri="{9D8B030D-6E8A-4147-A177-3AD203B41FA5}">
                      <a16:colId xmlns:a16="http://schemas.microsoft.com/office/drawing/2014/main" val="3372982525"/>
                    </a:ext>
                  </a:extLst>
                </a:gridCol>
              </a:tblGrid>
              <a:tr h="189580">
                <a:tc>
                  <a:txBody>
                    <a:bodyPr/>
                    <a:lstStyle/>
                    <a:p>
                      <a:pPr fontAlgn="b">
                        <a:buNone/>
                      </a:pPr>
                      <a:r>
                        <a:rPr lang="en-IN" sz="1100" b="1">
                          <a:solidFill>
                            <a:schemeClr val="tx1"/>
                          </a:solidFill>
                          <a:effectLst/>
                        </a:rPr>
                        <a:t>Method</a:t>
                      </a:r>
                    </a:p>
                  </a:txBody>
                  <a:tcPr marL="58329" marR="58329" marT="29164" marB="29164" anchor="b"/>
                </a:tc>
                <a:tc>
                  <a:txBody>
                    <a:bodyPr/>
                    <a:lstStyle/>
                    <a:p>
                      <a:pPr fontAlgn="b">
                        <a:buNone/>
                      </a:pPr>
                      <a:r>
                        <a:rPr lang="en-IN" sz="1100" b="1">
                          <a:solidFill>
                            <a:schemeClr val="tx1"/>
                          </a:solidFill>
                          <a:effectLst/>
                        </a:rPr>
                        <a:t>Year</a:t>
                      </a:r>
                    </a:p>
                  </a:txBody>
                  <a:tcPr marL="58329" marR="58329" marT="29164" marB="29164" anchor="b"/>
                </a:tc>
                <a:tc>
                  <a:txBody>
                    <a:bodyPr/>
                    <a:lstStyle/>
                    <a:p>
                      <a:pPr fontAlgn="b">
                        <a:buNone/>
                      </a:pPr>
                      <a:r>
                        <a:rPr lang="en-IN" sz="1100" b="1" dirty="0">
                          <a:solidFill>
                            <a:schemeClr val="tx1"/>
                          </a:solidFill>
                          <a:effectLst/>
                        </a:rPr>
                        <a:t>Limitation</a:t>
                      </a:r>
                    </a:p>
                  </a:txBody>
                  <a:tcPr marL="58329" marR="58329" marT="29164" marB="29164" anchor="b"/>
                </a:tc>
                <a:extLst>
                  <a:ext uri="{0D108BD9-81ED-4DB2-BD59-A6C34878D82A}">
                    <a16:rowId xmlns:a16="http://schemas.microsoft.com/office/drawing/2014/main" val="154248835"/>
                  </a:ext>
                </a:extLst>
              </a:tr>
              <a:tr h="616136">
                <a:tc>
                  <a:txBody>
                    <a:bodyPr/>
                    <a:lstStyle/>
                    <a:p>
                      <a:pPr fontAlgn="base">
                        <a:buNone/>
                      </a:pPr>
                      <a:r>
                        <a:rPr lang="en-IN" sz="1100" b="1" dirty="0">
                          <a:solidFill>
                            <a:schemeClr val="tx1"/>
                          </a:solidFill>
                          <a:effectLst/>
                        </a:rPr>
                        <a:t>MoCo-v3</a:t>
                      </a:r>
                      <a:r>
                        <a:rPr lang="en-IN" sz="1100" dirty="0">
                          <a:effectLst/>
                        </a:rPr>
                        <a:t> (He et al.)</a:t>
                      </a:r>
                    </a:p>
                  </a:txBody>
                  <a:tcPr marL="58329" marR="58329" marT="29164" marB="29164" anchor="ctr"/>
                </a:tc>
                <a:tc>
                  <a:txBody>
                    <a:bodyPr/>
                    <a:lstStyle/>
                    <a:p>
                      <a:pPr fontAlgn="base">
                        <a:buNone/>
                      </a:pPr>
                      <a:r>
                        <a:rPr lang="en-IN" sz="1100">
                          <a:effectLst/>
                        </a:rPr>
                        <a:t>2021</a:t>
                      </a:r>
                    </a:p>
                  </a:txBody>
                  <a:tcPr marL="58329" marR="58329" marT="29164" marB="29164" anchor="ctr"/>
                </a:tc>
                <a:tc>
                  <a:txBody>
                    <a:bodyPr/>
                    <a:lstStyle/>
                    <a:p>
                      <a:pPr fontAlgn="base">
                        <a:buNone/>
                      </a:pPr>
                      <a:r>
                        <a:rPr lang="en-US" sz="1100" dirty="0">
                          <a:effectLst/>
                        </a:rPr>
                        <a:t>Contrastive, needs negative samples, image-only</a:t>
                      </a:r>
                    </a:p>
                  </a:txBody>
                  <a:tcPr marL="58329" marR="58329" marT="29164" marB="29164" anchor="ctr"/>
                </a:tc>
                <a:extLst>
                  <a:ext uri="{0D108BD9-81ED-4DB2-BD59-A6C34878D82A}">
                    <a16:rowId xmlns:a16="http://schemas.microsoft.com/office/drawing/2014/main" val="4007375005"/>
                  </a:ext>
                </a:extLst>
              </a:tr>
              <a:tr h="758321">
                <a:tc>
                  <a:txBody>
                    <a:bodyPr/>
                    <a:lstStyle/>
                    <a:p>
                      <a:pPr fontAlgn="base">
                        <a:buNone/>
                      </a:pPr>
                      <a:r>
                        <a:rPr lang="en-IN" sz="1100" b="1" dirty="0">
                          <a:solidFill>
                            <a:schemeClr val="tx1"/>
                          </a:solidFill>
                          <a:effectLst/>
                        </a:rPr>
                        <a:t>MAE</a:t>
                      </a:r>
                      <a:r>
                        <a:rPr lang="en-IN" sz="1100" dirty="0">
                          <a:solidFill>
                            <a:schemeClr val="tx1"/>
                          </a:solidFill>
                          <a:effectLst/>
                        </a:rPr>
                        <a:t> </a:t>
                      </a:r>
                      <a:r>
                        <a:rPr lang="en-IN" sz="1100" dirty="0">
                          <a:effectLst/>
                        </a:rPr>
                        <a:t>(He et al.)</a:t>
                      </a:r>
                    </a:p>
                  </a:txBody>
                  <a:tcPr marL="58329" marR="58329" marT="29164" marB="29164" anchor="ctr"/>
                </a:tc>
                <a:tc>
                  <a:txBody>
                    <a:bodyPr/>
                    <a:lstStyle/>
                    <a:p>
                      <a:pPr fontAlgn="base">
                        <a:buNone/>
                      </a:pPr>
                      <a:r>
                        <a:rPr lang="en-IN" sz="1100">
                          <a:effectLst/>
                        </a:rPr>
                        <a:t>2022</a:t>
                      </a:r>
                    </a:p>
                  </a:txBody>
                  <a:tcPr marL="58329" marR="58329" marT="29164" marB="29164" anchor="ctr"/>
                </a:tc>
                <a:tc>
                  <a:txBody>
                    <a:bodyPr/>
                    <a:lstStyle/>
                    <a:p>
                      <a:pPr fontAlgn="base">
                        <a:buNone/>
                      </a:pPr>
                      <a:r>
                        <a:rPr lang="en-US" sz="1100" dirty="0">
                          <a:effectLst/>
                        </a:rPr>
                        <a:t>Pixel reconstruction — wastes capacity on low-level details</a:t>
                      </a:r>
                    </a:p>
                  </a:txBody>
                  <a:tcPr marL="58329" marR="58329" marT="29164" marB="29164" anchor="ctr"/>
                </a:tc>
                <a:extLst>
                  <a:ext uri="{0D108BD9-81ED-4DB2-BD59-A6C34878D82A}">
                    <a16:rowId xmlns:a16="http://schemas.microsoft.com/office/drawing/2014/main" val="3412821579"/>
                  </a:ext>
                </a:extLst>
              </a:tr>
              <a:tr h="473951">
                <a:tc>
                  <a:txBody>
                    <a:bodyPr/>
                    <a:lstStyle/>
                    <a:p>
                      <a:pPr fontAlgn="base">
                        <a:buNone/>
                      </a:pPr>
                      <a:r>
                        <a:rPr lang="nb-NO" sz="1100" b="1" dirty="0">
                          <a:solidFill>
                            <a:schemeClr val="tx1"/>
                          </a:solidFill>
                          <a:effectLst/>
                        </a:rPr>
                        <a:t>I-JEPA</a:t>
                      </a:r>
                      <a:r>
                        <a:rPr lang="nb-NO" sz="1100" dirty="0">
                          <a:effectLst/>
                        </a:rPr>
                        <a:t> (Assran et al., Meta)</a:t>
                      </a:r>
                    </a:p>
                  </a:txBody>
                  <a:tcPr marL="58329" marR="58329" marT="29164" marB="29164" anchor="ctr"/>
                </a:tc>
                <a:tc>
                  <a:txBody>
                    <a:bodyPr/>
                    <a:lstStyle/>
                    <a:p>
                      <a:pPr fontAlgn="base">
                        <a:buNone/>
                      </a:pPr>
                      <a:r>
                        <a:rPr lang="en-IN" sz="1100">
                          <a:effectLst/>
                        </a:rPr>
                        <a:t>2023</a:t>
                      </a:r>
                    </a:p>
                  </a:txBody>
                  <a:tcPr marL="58329" marR="58329" marT="29164" marB="29164" anchor="ctr"/>
                </a:tc>
                <a:tc>
                  <a:txBody>
                    <a:bodyPr/>
                    <a:lstStyle/>
                    <a:p>
                      <a:pPr fontAlgn="base">
                        <a:buNone/>
                      </a:pPr>
                      <a:r>
                        <a:rPr lang="en-IN" sz="1100" dirty="0">
                          <a:effectLst/>
                        </a:rPr>
                        <a:t>Image-only, no temporal reasoning</a:t>
                      </a:r>
                    </a:p>
                  </a:txBody>
                  <a:tcPr marL="58329" marR="58329" marT="29164" marB="29164" anchor="ctr"/>
                </a:tc>
                <a:extLst>
                  <a:ext uri="{0D108BD9-81ED-4DB2-BD59-A6C34878D82A}">
                    <a16:rowId xmlns:a16="http://schemas.microsoft.com/office/drawing/2014/main" val="1040862164"/>
                  </a:ext>
                </a:extLst>
              </a:tr>
              <a:tr h="616136">
                <a:tc>
                  <a:txBody>
                    <a:bodyPr/>
                    <a:lstStyle/>
                    <a:p>
                      <a:pPr fontAlgn="base">
                        <a:buNone/>
                      </a:pPr>
                      <a:r>
                        <a:rPr lang="en-IN" sz="1100" b="1" dirty="0">
                          <a:solidFill>
                            <a:schemeClr val="tx1"/>
                          </a:solidFill>
                          <a:effectLst/>
                        </a:rPr>
                        <a:t>V-JEPA</a:t>
                      </a:r>
                      <a:r>
                        <a:rPr lang="en-IN" sz="1100" dirty="0">
                          <a:effectLst/>
                        </a:rPr>
                        <a:t> (Bardes et al., Meta)</a:t>
                      </a:r>
                    </a:p>
                  </a:txBody>
                  <a:tcPr marL="58329" marR="58329" marT="29164" marB="29164" anchor="ctr"/>
                </a:tc>
                <a:tc>
                  <a:txBody>
                    <a:bodyPr/>
                    <a:lstStyle/>
                    <a:p>
                      <a:pPr fontAlgn="base">
                        <a:buNone/>
                      </a:pPr>
                      <a:r>
                        <a:rPr lang="en-IN" sz="1100">
                          <a:effectLst/>
                        </a:rPr>
                        <a:t>2024</a:t>
                      </a:r>
                    </a:p>
                  </a:txBody>
                  <a:tcPr marL="58329" marR="58329" marT="29164" marB="29164" anchor="ctr"/>
                </a:tc>
                <a:tc>
                  <a:txBody>
                    <a:bodyPr/>
                    <a:lstStyle/>
                    <a:p>
                      <a:pPr fontAlgn="base">
                        <a:buNone/>
                      </a:pPr>
                      <a:r>
                        <a:rPr lang="en-US" sz="1100" dirty="0">
                          <a:effectLst/>
                        </a:rPr>
                        <a:t>Video support, but 600M+ params — not deployable</a:t>
                      </a:r>
                    </a:p>
                  </a:txBody>
                  <a:tcPr marL="58329" marR="58329" marT="29164" marB="29164" anchor="ctr"/>
                </a:tc>
                <a:extLst>
                  <a:ext uri="{0D108BD9-81ED-4DB2-BD59-A6C34878D82A}">
                    <a16:rowId xmlns:a16="http://schemas.microsoft.com/office/drawing/2014/main" val="2461838028"/>
                  </a:ext>
                </a:extLst>
              </a:tr>
              <a:tr h="473951">
                <a:tc>
                  <a:txBody>
                    <a:bodyPr/>
                    <a:lstStyle/>
                    <a:p>
                      <a:pPr fontAlgn="base">
                        <a:buNone/>
                      </a:pPr>
                      <a:r>
                        <a:rPr lang="en-IN" sz="1100" b="1" dirty="0">
                          <a:solidFill>
                            <a:schemeClr val="tx1"/>
                          </a:solidFill>
                          <a:effectLst/>
                        </a:rPr>
                        <a:t>V-JEPA2</a:t>
                      </a:r>
                      <a:r>
                        <a:rPr lang="en-IN" sz="1100" dirty="0">
                          <a:solidFill>
                            <a:schemeClr val="tx1"/>
                          </a:solidFill>
                          <a:effectLst/>
                        </a:rPr>
                        <a:t> </a:t>
                      </a:r>
                      <a:r>
                        <a:rPr lang="en-IN" sz="1100" dirty="0">
                          <a:effectLst/>
                        </a:rPr>
                        <a:t>(Meta)</a:t>
                      </a:r>
                    </a:p>
                  </a:txBody>
                  <a:tcPr marL="58329" marR="58329" marT="29164" marB="29164" anchor="ctr"/>
                </a:tc>
                <a:tc>
                  <a:txBody>
                    <a:bodyPr/>
                    <a:lstStyle/>
                    <a:p>
                      <a:pPr fontAlgn="base">
                        <a:buNone/>
                      </a:pPr>
                      <a:r>
                        <a:rPr lang="en-IN" sz="1100">
                          <a:effectLst/>
                        </a:rPr>
                        <a:t>2024</a:t>
                      </a:r>
                    </a:p>
                  </a:txBody>
                  <a:tcPr marL="58329" marR="58329" marT="29164" marB="29164" anchor="ctr"/>
                </a:tc>
                <a:tc>
                  <a:txBody>
                    <a:bodyPr/>
                    <a:lstStyle/>
                    <a:p>
                      <a:pPr fontAlgn="base">
                        <a:buNone/>
                      </a:pPr>
                      <a:r>
                        <a:rPr lang="en-US" sz="1100" dirty="0">
                          <a:effectLst/>
                        </a:rPr>
                        <a:t>SOTA video features,</a:t>
                      </a:r>
                      <a:r>
                        <a:rPr lang="en-US" sz="1100" dirty="0">
                          <a:solidFill>
                            <a:schemeClr val="tx1"/>
                          </a:solidFill>
                          <a:effectLst/>
                        </a:rPr>
                        <a:t> </a:t>
                      </a:r>
                      <a:r>
                        <a:rPr lang="en-US" sz="1100" b="1" dirty="0">
                          <a:solidFill>
                            <a:schemeClr val="tx1"/>
                          </a:solidFill>
                          <a:effectLst/>
                        </a:rPr>
                        <a:t>still too heavy for edge</a:t>
                      </a:r>
                      <a:endParaRPr lang="en-US" sz="1100" dirty="0">
                        <a:solidFill>
                          <a:schemeClr val="tx1"/>
                        </a:solidFill>
                        <a:effectLst/>
                      </a:endParaRPr>
                    </a:p>
                  </a:txBody>
                  <a:tcPr marL="58329" marR="58329" marT="29164" marB="29164" anchor="ctr"/>
                </a:tc>
                <a:extLst>
                  <a:ext uri="{0D108BD9-81ED-4DB2-BD59-A6C34878D82A}">
                    <a16:rowId xmlns:a16="http://schemas.microsoft.com/office/drawing/2014/main" val="670221132"/>
                  </a:ext>
                </a:extLst>
              </a:tr>
            </a:tbl>
          </a:graphicData>
        </a:graphic>
      </p:graphicFrame>
    </p:spTree>
    <p:extLst>
      <p:ext uri="{BB962C8B-B14F-4D97-AF65-F5344CB8AC3E}">
        <p14:creationId xmlns:p14="http://schemas.microsoft.com/office/powerpoint/2010/main" val="102713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C9E31-C93C-7FB3-7EC1-17AFC539E646}"/>
              </a:ext>
            </a:extLst>
          </p:cNvPr>
          <p:cNvSpPr>
            <a:spLocks noGrp="1"/>
          </p:cNvSpPr>
          <p:nvPr>
            <p:ph type="title"/>
          </p:nvPr>
        </p:nvSpPr>
        <p:spPr/>
        <p:txBody>
          <a:bodyPr/>
          <a:lstStyle/>
          <a:p>
            <a:r>
              <a:rPr lang="en-IN" b="1" dirty="0"/>
              <a:t>Related Work (contd.)</a:t>
            </a:r>
          </a:p>
        </p:txBody>
      </p:sp>
      <p:graphicFrame>
        <p:nvGraphicFramePr>
          <p:cNvPr id="4" name="Content Placeholder 3">
            <a:extLst>
              <a:ext uri="{FF2B5EF4-FFF2-40B4-BE49-F238E27FC236}">
                <a16:creationId xmlns:a16="http://schemas.microsoft.com/office/drawing/2014/main" id="{516D4BE3-7495-9B5B-7624-D4970028FD16}"/>
              </a:ext>
            </a:extLst>
          </p:cNvPr>
          <p:cNvGraphicFramePr>
            <a:graphicFrameLocks noGrp="1"/>
          </p:cNvGraphicFramePr>
          <p:nvPr>
            <p:ph idx="1"/>
            <p:extLst>
              <p:ext uri="{D42A27DB-BD31-4B8C-83A1-F6EECF244321}">
                <p14:modId xmlns:p14="http://schemas.microsoft.com/office/powerpoint/2010/main" val="3963992877"/>
              </p:ext>
            </p:extLst>
          </p:nvPr>
        </p:nvGraphicFramePr>
        <p:xfrm>
          <a:off x="521109" y="2014197"/>
          <a:ext cx="11248102" cy="2321829"/>
        </p:xfrm>
        <a:graphic>
          <a:graphicData uri="http://schemas.openxmlformats.org/drawingml/2006/table">
            <a:tbl>
              <a:tblPr>
                <a:tableStyleId>{BC89EF96-8CEA-46FF-86C4-4CE0E7609802}</a:tableStyleId>
              </a:tblPr>
              <a:tblGrid>
                <a:gridCol w="5624051">
                  <a:extLst>
                    <a:ext uri="{9D8B030D-6E8A-4147-A177-3AD203B41FA5}">
                      <a16:colId xmlns:a16="http://schemas.microsoft.com/office/drawing/2014/main" val="1564383884"/>
                    </a:ext>
                  </a:extLst>
                </a:gridCol>
                <a:gridCol w="5624051">
                  <a:extLst>
                    <a:ext uri="{9D8B030D-6E8A-4147-A177-3AD203B41FA5}">
                      <a16:colId xmlns:a16="http://schemas.microsoft.com/office/drawing/2014/main" val="2203134590"/>
                    </a:ext>
                  </a:extLst>
                </a:gridCol>
              </a:tblGrid>
              <a:tr h="402991">
                <a:tc>
                  <a:txBody>
                    <a:bodyPr/>
                    <a:lstStyle/>
                    <a:p>
                      <a:pPr fontAlgn="b">
                        <a:buNone/>
                      </a:pPr>
                      <a:r>
                        <a:rPr lang="en-IN" b="1" dirty="0">
                          <a:solidFill>
                            <a:schemeClr val="tx1"/>
                          </a:solidFill>
                          <a:effectLst/>
                          <a:latin typeface="Times New Roman" panose="02020603050405020304" pitchFamily="18" charset="0"/>
                          <a:cs typeface="Times New Roman" panose="02020603050405020304" pitchFamily="18" charset="0"/>
                        </a:rPr>
                        <a:t>Method</a:t>
                      </a:r>
                    </a:p>
                  </a:txBody>
                  <a:tcPr anchor="b"/>
                </a:tc>
                <a:tc>
                  <a:txBody>
                    <a:bodyPr/>
                    <a:lstStyle/>
                    <a:p>
                      <a:pPr fontAlgn="b">
                        <a:buNone/>
                      </a:pPr>
                      <a:r>
                        <a:rPr lang="en-IN" b="1" dirty="0">
                          <a:solidFill>
                            <a:schemeClr val="tx1"/>
                          </a:solidFill>
                          <a:effectLst/>
                          <a:latin typeface="Times New Roman" panose="02020603050405020304" pitchFamily="18" charset="0"/>
                          <a:cs typeface="Times New Roman" panose="02020603050405020304" pitchFamily="18" charset="0"/>
                        </a:rPr>
                        <a:t>Limitation</a:t>
                      </a:r>
                    </a:p>
                  </a:txBody>
                  <a:tcPr anchor="b"/>
                </a:tc>
                <a:extLst>
                  <a:ext uri="{0D108BD9-81ED-4DB2-BD59-A6C34878D82A}">
                    <a16:rowId xmlns:a16="http://schemas.microsoft.com/office/drawing/2014/main" val="557111265"/>
                  </a:ext>
                </a:extLst>
              </a:tr>
              <a:tr h="659815">
                <a:tc>
                  <a:txBody>
                    <a:bodyPr/>
                    <a:lstStyle/>
                    <a:p>
                      <a:pPr fontAlgn="base">
                        <a:buNone/>
                      </a:pPr>
                      <a:r>
                        <a:rPr lang="en-IN" b="1" dirty="0">
                          <a:solidFill>
                            <a:schemeClr val="tx1"/>
                          </a:solidFill>
                          <a:effectLst/>
                          <a:latin typeface="Times New Roman" panose="02020603050405020304" pitchFamily="18" charset="0"/>
                          <a:cs typeface="Times New Roman" panose="02020603050405020304" pitchFamily="18" charset="0"/>
                        </a:rPr>
                        <a:t>ORB-SLAM3</a:t>
                      </a:r>
                    </a:p>
                  </a:txBody>
                  <a:tcPr anchor="ctr"/>
                </a:tc>
                <a:tc>
                  <a:txBody>
                    <a:bodyPr/>
                    <a:lstStyle/>
                    <a:p>
                      <a:pPr fontAlgn="base">
                        <a:buNone/>
                      </a:pPr>
                      <a:r>
                        <a:rPr lang="en-US">
                          <a:effectLst/>
                          <a:latin typeface="Times New Roman" panose="02020603050405020304" pitchFamily="18" charset="0"/>
                          <a:cs typeface="Times New Roman" panose="02020603050405020304" pitchFamily="18" charset="0"/>
                        </a:rPr>
                        <a:t>Classical, fails in low-texture / low-light scenes</a:t>
                      </a:r>
                    </a:p>
                  </a:txBody>
                  <a:tcPr anchor="ctr"/>
                </a:tc>
                <a:extLst>
                  <a:ext uri="{0D108BD9-81ED-4DB2-BD59-A6C34878D82A}">
                    <a16:rowId xmlns:a16="http://schemas.microsoft.com/office/drawing/2014/main" val="2082832561"/>
                  </a:ext>
                </a:extLst>
              </a:tr>
              <a:tr h="659815">
                <a:tc>
                  <a:txBody>
                    <a:bodyPr/>
                    <a:lstStyle/>
                    <a:p>
                      <a:pPr fontAlgn="base">
                        <a:buNone/>
                      </a:pPr>
                      <a:r>
                        <a:rPr lang="en-IN" b="1" dirty="0" err="1">
                          <a:solidFill>
                            <a:schemeClr val="tx1"/>
                          </a:solidFill>
                          <a:effectLst/>
                          <a:latin typeface="Times New Roman" panose="02020603050405020304" pitchFamily="18" charset="0"/>
                          <a:cs typeface="Times New Roman" panose="02020603050405020304" pitchFamily="18" charset="0"/>
                        </a:rPr>
                        <a:t>DeepVO</a:t>
                      </a:r>
                      <a:r>
                        <a:rPr lang="en-IN" dirty="0">
                          <a:effectLst/>
                          <a:latin typeface="Times New Roman" panose="02020603050405020304" pitchFamily="18" charset="0"/>
                          <a:cs typeface="Times New Roman" panose="02020603050405020304" pitchFamily="18" charset="0"/>
                        </a:rPr>
                        <a:t> (Wang et al.)</a:t>
                      </a:r>
                    </a:p>
                  </a:txBody>
                  <a:tcPr anchor="ctr"/>
                </a:tc>
                <a:tc>
                  <a:txBody>
                    <a:bodyPr/>
                    <a:lstStyle/>
                    <a:p>
                      <a:pPr fontAlgn="base">
                        <a:buNone/>
                      </a:pPr>
                      <a:r>
                        <a:rPr lang="en-US" dirty="0">
                          <a:effectLst/>
                          <a:latin typeface="Times New Roman" panose="02020603050405020304" pitchFamily="18" charset="0"/>
                          <a:cs typeface="Times New Roman" panose="02020603050405020304" pitchFamily="18" charset="0"/>
                        </a:rPr>
                        <a:t>CNN-LSTM, single-task, no obstacle awareness</a:t>
                      </a:r>
                    </a:p>
                  </a:txBody>
                  <a:tcPr anchor="ctr"/>
                </a:tc>
                <a:extLst>
                  <a:ext uri="{0D108BD9-81ED-4DB2-BD59-A6C34878D82A}">
                    <a16:rowId xmlns:a16="http://schemas.microsoft.com/office/drawing/2014/main" val="1805976959"/>
                  </a:ext>
                </a:extLst>
              </a:tr>
              <a:tr h="599208">
                <a:tc>
                  <a:txBody>
                    <a:bodyPr/>
                    <a:lstStyle/>
                    <a:p>
                      <a:pPr fontAlgn="base">
                        <a:buNone/>
                      </a:pPr>
                      <a:r>
                        <a:rPr lang="en-IN" b="1" dirty="0" err="1">
                          <a:solidFill>
                            <a:schemeClr val="tx1"/>
                          </a:solidFill>
                          <a:effectLst/>
                          <a:latin typeface="Times New Roman" panose="02020603050405020304" pitchFamily="18" charset="0"/>
                          <a:cs typeface="Times New Roman" panose="02020603050405020304" pitchFamily="18" charset="0"/>
                        </a:rPr>
                        <a:t>TartanVO</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fontAlgn="base">
                        <a:buNone/>
                      </a:pPr>
                      <a:r>
                        <a:rPr lang="en-US" dirty="0">
                          <a:effectLst/>
                          <a:latin typeface="Times New Roman" panose="02020603050405020304" pitchFamily="18" charset="0"/>
                          <a:cs typeface="Times New Roman" panose="02020603050405020304" pitchFamily="18" charset="0"/>
                        </a:rPr>
                        <a:t>Requires stereo/depth at inference time</a:t>
                      </a:r>
                    </a:p>
                  </a:txBody>
                  <a:tcPr anchor="ctr"/>
                </a:tc>
                <a:extLst>
                  <a:ext uri="{0D108BD9-81ED-4DB2-BD59-A6C34878D82A}">
                    <a16:rowId xmlns:a16="http://schemas.microsoft.com/office/drawing/2014/main" val="2450114855"/>
                  </a:ext>
                </a:extLst>
              </a:tr>
            </a:tbl>
          </a:graphicData>
        </a:graphic>
      </p:graphicFrame>
    </p:spTree>
    <p:extLst>
      <p:ext uri="{BB962C8B-B14F-4D97-AF65-F5344CB8AC3E}">
        <p14:creationId xmlns:p14="http://schemas.microsoft.com/office/powerpoint/2010/main" val="192757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35CD3-4841-FAED-6683-EB49564041CF}"/>
              </a:ext>
            </a:extLst>
          </p:cNvPr>
          <p:cNvSpPr>
            <a:spLocks noGrp="1"/>
          </p:cNvSpPr>
          <p:nvPr>
            <p:ph type="title"/>
          </p:nvPr>
        </p:nvSpPr>
        <p:spPr/>
        <p:txBody>
          <a:bodyPr/>
          <a:lstStyle/>
          <a:p>
            <a:r>
              <a:rPr lang="en-IN" b="1" dirty="0"/>
              <a:t>Research/System Gaps Identified</a:t>
            </a:r>
            <a:br>
              <a:rPr lang="en-IN" b="1" dirty="0"/>
            </a:br>
            <a:endParaRPr lang="en-IN" dirty="0"/>
          </a:p>
        </p:txBody>
      </p:sp>
      <p:sp>
        <p:nvSpPr>
          <p:cNvPr id="3" name="Content Placeholder 2">
            <a:extLst>
              <a:ext uri="{FF2B5EF4-FFF2-40B4-BE49-F238E27FC236}">
                <a16:creationId xmlns:a16="http://schemas.microsoft.com/office/drawing/2014/main" id="{D5FA41B6-5BF8-0522-6CE1-F2E0612D4901}"/>
              </a:ext>
            </a:extLst>
          </p:cNvPr>
          <p:cNvSpPr>
            <a:spLocks noGrp="1"/>
          </p:cNvSpPr>
          <p:nvPr>
            <p:ph idx="1"/>
          </p:nvPr>
        </p:nvSpPr>
        <p:spPr/>
        <p:txBody>
          <a:bodyPr>
            <a:normAutofit lnSpcReduction="10000"/>
          </a:bodyPr>
          <a:lstStyle/>
          <a:p>
            <a:pPr marL="0" indent="0">
              <a:buNone/>
            </a:pPr>
            <a:r>
              <a:rPr lang="en-IN" b="1" dirty="0"/>
              <a:t>Gap 1: No Video-Temporal Distillation for Edge AR</a:t>
            </a:r>
          </a:p>
          <a:p>
            <a:r>
              <a:rPr lang="en-IN" dirty="0"/>
              <a:t>Existing distillation (</a:t>
            </a:r>
            <a:r>
              <a:rPr lang="en-IN" dirty="0" err="1"/>
              <a:t>DeiT</a:t>
            </a:r>
            <a:r>
              <a:rPr lang="en-IN" dirty="0"/>
              <a:t>, </a:t>
            </a:r>
            <a:r>
              <a:rPr lang="en-IN" dirty="0" err="1"/>
              <a:t>TinyViT</a:t>
            </a:r>
            <a:r>
              <a:rPr lang="en-IN" dirty="0"/>
              <a:t>) operates on </a:t>
            </a:r>
            <a:r>
              <a:rPr lang="en-IN" b="1" dirty="0"/>
              <a:t>single images</a:t>
            </a:r>
            <a:r>
              <a:rPr lang="en-IN" dirty="0"/>
              <a:t>. No published framework </a:t>
            </a:r>
            <a:r>
              <a:rPr lang="en-IN" dirty="0" err="1"/>
              <a:t>distills</a:t>
            </a:r>
            <a:r>
              <a:rPr lang="en-IN" dirty="0"/>
              <a:t> </a:t>
            </a:r>
            <a:r>
              <a:rPr lang="en-IN" b="1" dirty="0"/>
              <a:t>temporal reasoning</a:t>
            </a:r>
            <a:r>
              <a:rPr lang="en-IN" dirty="0"/>
              <a:t> from a V-JEPA2-class teacher.</a:t>
            </a:r>
          </a:p>
          <a:p>
            <a:pPr marL="0" indent="0">
              <a:buNone/>
            </a:pPr>
            <a:r>
              <a:rPr lang="en-IN" b="1" dirty="0"/>
              <a:t> Gap 2: Single-Task Models Dominate</a:t>
            </a:r>
          </a:p>
          <a:p>
            <a:r>
              <a:rPr lang="en-IN" dirty="0"/>
              <a:t>Every related work tackles motion </a:t>
            </a:r>
            <a:r>
              <a:rPr lang="en-IN" b="1" dirty="0"/>
              <a:t>OR</a:t>
            </a:r>
            <a:r>
              <a:rPr lang="en-IN" dirty="0"/>
              <a:t> obstacle detection </a:t>
            </a:r>
            <a:r>
              <a:rPr lang="en-IN" b="1" dirty="0"/>
              <a:t>OR</a:t>
            </a:r>
            <a:r>
              <a:rPr lang="en-IN" dirty="0"/>
              <a:t> feature extraction — never all three from one shared backbone. This wastes compute on mobile.</a:t>
            </a:r>
          </a:p>
          <a:p>
            <a:pPr marL="0" indent="0">
              <a:buNone/>
            </a:pPr>
            <a:r>
              <a:rPr lang="en-IN" b="1" dirty="0"/>
              <a:t> Gap 3: Missing Cross-Dataset Validation</a:t>
            </a:r>
          </a:p>
          <a:p>
            <a:r>
              <a:rPr lang="en-IN" dirty="0"/>
              <a:t>Most AR papers evaluate on one dataset (KITTI or TUM). </a:t>
            </a:r>
            <a:r>
              <a:rPr lang="en-IN" b="1" dirty="0"/>
              <a:t>Domain shift</a:t>
            </a:r>
            <a:r>
              <a:rPr lang="en-IN" dirty="0"/>
              <a:t> between datasets breaks deployment. No prior work combines </a:t>
            </a:r>
            <a:r>
              <a:rPr lang="en-IN" b="1" dirty="0" err="1"/>
              <a:t>ARKitScenes</a:t>
            </a:r>
            <a:r>
              <a:rPr lang="en-IN" b="1" dirty="0"/>
              <a:t> (consumer AR)</a:t>
            </a:r>
            <a:r>
              <a:rPr lang="en-IN" dirty="0"/>
              <a:t> + </a:t>
            </a:r>
            <a:r>
              <a:rPr lang="en-IN" b="1" dirty="0"/>
              <a:t>TUM RGB-D (robotics benchmark)</a:t>
            </a:r>
            <a:r>
              <a:rPr lang="en-IN" dirty="0"/>
              <a:t>.</a:t>
            </a:r>
          </a:p>
          <a:p>
            <a:pPr marL="0" indent="0">
              <a:buNone/>
            </a:pPr>
            <a:r>
              <a:rPr lang="en-IN" b="1" dirty="0"/>
              <a:t> Gap 4: Obstacle Labels Are Expensive</a:t>
            </a:r>
          </a:p>
          <a:p>
            <a:r>
              <a:rPr lang="en-IN" dirty="0"/>
              <a:t>Manual obstacle annotation costs $$$. No standardized </a:t>
            </a:r>
            <a:r>
              <a:rPr lang="en-IN" b="1" dirty="0"/>
              <a:t>weakly-supervised label generation</a:t>
            </a:r>
            <a:r>
              <a:rPr lang="en-IN" dirty="0"/>
              <a:t> method exists for AR obstacle detection.</a:t>
            </a:r>
          </a:p>
          <a:p>
            <a:endParaRPr lang="en-IN" dirty="0"/>
          </a:p>
        </p:txBody>
      </p:sp>
    </p:spTree>
    <p:extLst>
      <p:ext uri="{BB962C8B-B14F-4D97-AF65-F5344CB8AC3E}">
        <p14:creationId xmlns:p14="http://schemas.microsoft.com/office/powerpoint/2010/main" val="3550949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080D-6898-C115-D40A-69F039C12873}"/>
              </a:ext>
            </a:extLst>
          </p:cNvPr>
          <p:cNvSpPr>
            <a:spLocks noGrp="1"/>
          </p:cNvSpPr>
          <p:nvPr>
            <p:ph type="title"/>
          </p:nvPr>
        </p:nvSpPr>
        <p:spPr/>
        <p:txBody>
          <a:bodyPr/>
          <a:lstStyle/>
          <a:p>
            <a:r>
              <a:rPr lang="en-IN" b="1" dirty="0"/>
              <a:t>Methodology Overview — Our Approach</a:t>
            </a:r>
            <a:br>
              <a:rPr lang="en-IN" b="1" dirty="0"/>
            </a:br>
            <a:endParaRPr lang="en-IN" dirty="0"/>
          </a:p>
        </p:txBody>
      </p:sp>
      <p:sp>
        <p:nvSpPr>
          <p:cNvPr id="3" name="Content Placeholder 2">
            <a:extLst>
              <a:ext uri="{FF2B5EF4-FFF2-40B4-BE49-F238E27FC236}">
                <a16:creationId xmlns:a16="http://schemas.microsoft.com/office/drawing/2014/main" id="{9454F9FE-90FC-2935-CE8D-6E731AD485AD}"/>
              </a:ext>
            </a:extLst>
          </p:cNvPr>
          <p:cNvSpPr>
            <a:spLocks noGrp="1"/>
          </p:cNvSpPr>
          <p:nvPr>
            <p:ph idx="1"/>
          </p:nvPr>
        </p:nvSpPr>
        <p:spPr/>
        <p:txBody>
          <a:bodyPr/>
          <a:lstStyle/>
          <a:p>
            <a:pPr marL="342900" indent="-342900">
              <a:buFont typeface="+mj-lt"/>
              <a:buAutoNum type="arabicPeriod"/>
            </a:pPr>
            <a:r>
              <a:rPr lang="en-IN" b="1" dirty="0"/>
              <a:t>Teacher-Student KD with V-JEPA2</a:t>
            </a:r>
            <a:r>
              <a:rPr lang="en-IN" dirty="0"/>
              <a:t> — leverages pretrained temporal features without retraining the heavy model.</a:t>
            </a:r>
          </a:p>
          <a:p>
            <a:pPr marL="342900" indent="-342900">
              <a:buFont typeface="+mj-lt"/>
              <a:buAutoNum type="arabicPeriod"/>
            </a:pPr>
            <a:r>
              <a:rPr lang="en-IN" b="1" dirty="0"/>
              <a:t> Multi-Task Head Architecture</a:t>
            </a:r>
            <a:r>
              <a:rPr lang="en-IN" dirty="0"/>
              <a:t> — one shared backbone, three specialized heads; forces the backbone to learn generalizable features.</a:t>
            </a:r>
          </a:p>
          <a:p>
            <a:pPr marL="342900" indent="-342900">
              <a:buFont typeface="+mj-lt"/>
              <a:buAutoNum type="arabicPeriod"/>
            </a:pPr>
            <a:r>
              <a:rPr lang="en-IN" b="1" dirty="0"/>
              <a:t>Combined Dataset Training</a:t>
            </a:r>
            <a:r>
              <a:rPr lang="en-IN" dirty="0"/>
              <a:t> — </a:t>
            </a:r>
            <a:r>
              <a:rPr lang="en-IN" dirty="0" err="1"/>
              <a:t>ARKitScenes</a:t>
            </a:r>
            <a:r>
              <a:rPr lang="en-IN" dirty="0"/>
              <a:t> (motion richness) + TUM RGB-D (precise ground truth + depth-based obstacle labels).</a:t>
            </a:r>
          </a:p>
          <a:p>
            <a:pPr marL="342900" indent="-342900">
              <a:buFont typeface="+mj-lt"/>
              <a:buAutoNum type="arabicPeriod"/>
            </a:pPr>
            <a:r>
              <a:rPr lang="en-IN" b="1" dirty="0"/>
              <a:t> Mixed-Precision + </a:t>
            </a:r>
            <a:r>
              <a:rPr lang="en-IN" b="1" dirty="0" err="1"/>
              <a:t>BCEWithLogits</a:t>
            </a:r>
            <a:r>
              <a:rPr lang="en-IN" dirty="0"/>
              <a:t> — enables 2× training speedup without numerical instability.</a:t>
            </a:r>
          </a:p>
          <a:p>
            <a:endParaRPr lang="en-IN" dirty="0"/>
          </a:p>
        </p:txBody>
      </p:sp>
    </p:spTree>
    <p:extLst>
      <p:ext uri="{BB962C8B-B14F-4D97-AF65-F5344CB8AC3E}">
        <p14:creationId xmlns:p14="http://schemas.microsoft.com/office/powerpoint/2010/main" val="2567977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C239-9366-97F7-255C-AC38E6629B96}"/>
              </a:ext>
            </a:extLst>
          </p:cNvPr>
          <p:cNvSpPr>
            <a:spLocks noGrp="1"/>
          </p:cNvSpPr>
          <p:nvPr>
            <p:ph type="title"/>
          </p:nvPr>
        </p:nvSpPr>
        <p:spPr/>
        <p:txBody>
          <a:bodyPr/>
          <a:lstStyle/>
          <a:p>
            <a:r>
              <a:rPr lang="en-IN" b="1" dirty="0"/>
              <a:t>Detailed Methodology – The Teacher Architecture </a:t>
            </a:r>
          </a:p>
        </p:txBody>
      </p:sp>
      <p:sp>
        <p:nvSpPr>
          <p:cNvPr id="3" name="Content Placeholder 2">
            <a:extLst>
              <a:ext uri="{FF2B5EF4-FFF2-40B4-BE49-F238E27FC236}">
                <a16:creationId xmlns:a16="http://schemas.microsoft.com/office/drawing/2014/main" id="{DC1C2CF3-B498-4B93-9D71-1695B03C20E5}"/>
              </a:ext>
            </a:extLst>
          </p:cNvPr>
          <p:cNvSpPr>
            <a:spLocks noGrp="1"/>
          </p:cNvSpPr>
          <p:nvPr>
            <p:ph idx="1"/>
          </p:nvPr>
        </p:nvSpPr>
        <p:spPr/>
        <p:txBody>
          <a:bodyPr/>
          <a:lstStyle/>
          <a:p>
            <a:r>
              <a:rPr lang="en-IN" b="1" dirty="0"/>
              <a:t>Input:</a:t>
            </a:r>
            <a:r>
              <a:rPr lang="en-IN" dirty="0"/>
              <a:t> (B, 3, 2, 224, 224) — 2 frames</a:t>
            </a:r>
          </a:p>
          <a:p>
            <a:r>
              <a:rPr lang="en-IN" b="1" dirty="0"/>
              <a:t>Patch Embedding:</a:t>
            </a:r>
            <a:r>
              <a:rPr lang="en-IN" dirty="0"/>
              <a:t> </a:t>
            </a:r>
            <a:r>
              <a:rPr lang="en-IN" b="1" dirty="0"/>
              <a:t>Conv3d(kernel=(2,16,16), stride=(2,16,16))</a:t>
            </a:r>
            <a:r>
              <a:rPr lang="en-IN" dirty="0"/>
              <a:t> → 196 tokens</a:t>
            </a:r>
          </a:p>
          <a:p>
            <a:r>
              <a:rPr lang="en-IN" b="1" dirty="0"/>
              <a:t>Depth:</a:t>
            </a:r>
            <a:r>
              <a:rPr lang="en-IN" dirty="0"/>
              <a:t> 12 Transformer blocks | </a:t>
            </a:r>
            <a:r>
              <a:rPr lang="en-IN" b="1" dirty="0"/>
              <a:t>Heads:</a:t>
            </a:r>
            <a:r>
              <a:rPr lang="en-IN" dirty="0"/>
              <a:t> 12 | </a:t>
            </a:r>
            <a:r>
              <a:rPr lang="en-IN" b="1" dirty="0"/>
              <a:t>Embed dim:</a:t>
            </a:r>
            <a:r>
              <a:rPr lang="en-IN" dirty="0"/>
              <a:t> 768</a:t>
            </a:r>
          </a:p>
          <a:p>
            <a:r>
              <a:rPr lang="en-IN" b="1" dirty="0"/>
              <a:t>Output:</a:t>
            </a:r>
            <a:r>
              <a:rPr lang="en-IN" dirty="0"/>
              <a:t> CLS token → 768-d vector</a:t>
            </a:r>
          </a:p>
          <a:p>
            <a:r>
              <a:rPr lang="en-IN" b="1" dirty="0"/>
              <a:t>Parameters:</a:t>
            </a:r>
            <a:r>
              <a:rPr lang="en-IN" dirty="0"/>
              <a:t> ~86M (frozen during training)</a:t>
            </a:r>
          </a:p>
          <a:p>
            <a:endParaRPr lang="en-IN" dirty="0"/>
          </a:p>
        </p:txBody>
      </p:sp>
    </p:spTree>
    <p:extLst>
      <p:ext uri="{BB962C8B-B14F-4D97-AF65-F5344CB8AC3E}">
        <p14:creationId xmlns:p14="http://schemas.microsoft.com/office/powerpoint/2010/main" val="253743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E3B7-A8F6-8186-E2F8-BDA57302F7D7}"/>
              </a:ext>
            </a:extLst>
          </p:cNvPr>
          <p:cNvSpPr>
            <a:spLocks noGrp="1"/>
          </p:cNvSpPr>
          <p:nvPr>
            <p:ph type="title"/>
          </p:nvPr>
        </p:nvSpPr>
        <p:spPr/>
        <p:txBody>
          <a:bodyPr/>
          <a:lstStyle/>
          <a:p>
            <a:r>
              <a:rPr lang="en-IN" b="1" dirty="0"/>
              <a:t>Detailed Methodology – The Student  Architecture </a:t>
            </a:r>
          </a:p>
        </p:txBody>
      </p:sp>
      <p:sp>
        <p:nvSpPr>
          <p:cNvPr id="3" name="Content Placeholder 2">
            <a:extLst>
              <a:ext uri="{FF2B5EF4-FFF2-40B4-BE49-F238E27FC236}">
                <a16:creationId xmlns:a16="http://schemas.microsoft.com/office/drawing/2014/main" id="{76F25AA2-1B50-FEE5-E294-82E439A2A240}"/>
              </a:ext>
            </a:extLst>
          </p:cNvPr>
          <p:cNvSpPr>
            <a:spLocks noGrp="1"/>
          </p:cNvSpPr>
          <p:nvPr>
            <p:ph idx="1"/>
          </p:nvPr>
        </p:nvSpPr>
        <p:spPr/>
        <p:txBody>
          <a:bodyPr/>
          <a:lstStyle/>
          <a:p>
            <a:r>
              <a:rPr lang="en-IN" b="1" dirty="0"/>
              <a:t>Input:</a:t>
            </a:r>
            <a:r>
              <a:rPr lang="en-IN" dirty="0"/>
              <a:t> (B, 3, 2, 224, 224) — 2 frames</a:t>
            </a:r>
          </a:p>
          <a:p>
            <a:r>
              <a:rPr lang="en-IN" b="1" dirty="0"/>
              <a:t>Patch Embedding:</a:t>
            </a:r>
            <a:r>
              <a:rPr lang="en-IN" dirty="0"/>
              <a:t> </a:t>
            </a:r>
            <a:r>
              <a:rPr lang="en-IN" b="1" dirty="0"/>
              <a:t>Conv3d(kernel=(2,16,16), stride=(2,16,16))</a:t>
            </a:r>
            <a:r>
              <a:rPr lang="en-IN" dirty="0"/>
              <a:t> → 196 tokens</a:t>
            </a:r>
          </a:p>
          <a:p>
            <a:r>
              <a:rPr lang="en-IN" b="1" dirty="0"/>
              <a:t>Depth:</a:t>
            </a:r>
            <a:r>
              <a:rPr lang="en-IN" dirty="0"/>
              <a:t> 4 Transformer blocks  | </a:t>
            </a:r>
            <a:r>
              <a:rPr lang="en-IN" b="1" dirty="0"/>
              <a:t>Heads:</a:t>
            </a:r>
            <a:r>
              <a:rPr lang="en-IN" dirty="0"/>
              <a:t> 6 | </a:t>
            </a:r>
            <a:r>
              <a:rPr lang="en-IN" b="1" dirty="0"/>
              <a:t>Embed dim:</a:t>
            </a:r>
            <a:r>
              <a:rPr lang="en-IN" dirty="0"/>
              <a:t> 192</a:t>
            </a:r>
          </a:p>
          <a:p>
            <a:r>
              <a:rPr lang="en-IN" b="1" dirty="0"/>
              <a:t>Parameters:</a:t>
            </a:r>
            <a:r>
              <a:rPr lang="en-IN" dirty="0"/>
              <a:t> ~2.5M </a:t>
            </a:r>
          </a:p>
        </p:txBody>
      </p:sp>
    </p:spTree>
    <p:extLst>
      <p:ext uri="{BB962C8B-B14F-4D97-AF65-F5344CB8AC3E}">
        <p14:creationId xmlns:p14="http://schemas.microsoft.com/office/powerpoint/2010/main" val="3392117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7888-079D-ECF9-315B-B0CE205BAE62}"/>
              </a:ext>
            </a:extLst>
          </p:cNvPr>
          <p:cNvSpPr>
            <a:spLocks noGrp="1"/>
          </p:cNvSpPr>
          <p:nvPr>
            <p:ph type="title"/>
          </p:nvPr>
        </p:nvSpPr>
        <p:spPr/>
        <p:txBody>
          <a:bodyPr/>
          <a:lstStyle/>
          <a:p>
            <a:r>
              <a:rPr lang="en-US" b="1" dirty="0"/>
              <a:t>Detailed Methodology — Knowledge Distillation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F71B2E-0B4B-3967-BD60-45F253E19AC8}"/>
                  </a:ext>
                </a:extLst>
              </p:cNvPr>
              <p:cNvSpPr>
                <a:spLocks noGrp="1"/>
              </p:cNvSpPr>
              <p:nvPr>
                <p:ph idx="1"/>
              </p:nvPr>
            </p:nvSpPr>
            <p:spPr/>
            <p:txBody>
              <a:bodyPr/>
              <a:lstStyle/>
              <a:p>
                <a:pPr marL="0" indent="0">
                  <a:buNone/>
                </a:pPr>
                <a:r>
                  <a:rPr lang="en-IN" b="1" dirty="0"/>
                  <a:t>The Distillation Loss Function</a:t>
                </a:r>
              </a:p>
              <a:p>
                <a:pPr marL="0" indent="0">
                  <a:buNone/>
                </a:pPr>
                <a14:m>
                  <m:oMathPara xmlns:m="http://schemas.openxmlformats.org/officeDocument/2006/math">
                    <m:oMathParaPr>
                      <m:jc m:val="center"/>
                    </m:oMathParaPr>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𝓛</m:t>
                          </m:r>
                        </m:e>
                        <m:sub>
                          <m:r>
                            <a:rPr lang="ar-AE" b="1" i="1">
                              <a:latin typeface="Cambria Math" panose="02040503050406030204" pitchFamily="18" charset="0"/>
                            </a:rPr>
                            <m:t>𝒕𝒐𝒕𝒂𝒍</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𝝀</m:t>
                          </m:r>
                        </m:e>
                        <m:sub>
                          <m:r>
                            <a:rPr lang="ar-AE" b="1" i="1">
                              <a:latin typeface="Cambria Math" panose="02040503050406030204" pitchFamily="18" charset="0"/>
                            </a:rPr>
                            <m:t>𝟏</m:t>
                          </m:r>
                        </m:sub>
                      </m:sSub>
                      <m:sSub>
                        <m:sSubPr>
                          <m:ctrlPr>
                            <a:rPr lang="ar-AE" b="1" i="1">
                              <a:latin typeface="Cambria Math" panose="02040503050406030204" pitchFamily="18" charset="0"/>
                            </a:rPr>
                          </m:ctrlPr>
                        </m:sSubPr>
                        <m:e>
                          <m:r>
                            <a:rPr lang="ar-AE" b="1" i="1">
                              <a:latin typeface="Cambria Math" panose="02040503050406030204" pitchFamily="18" charset="0"/>
                            </a:rPr>
                            <m:t>𝓛</m:t>
                          </m:r>
                        </m:e>
                        <m:sub>
                          <m:r>
                            <a:rPr lang="ar-AE" b="1" i="1">
                              <a:latin typeface="Cambria Math" panose="02040503050406030204" pitchFamily="18" charset="0"/>
                            </a:rPr>
                            <m:t>𝑲𝑫</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𝝀</m:t>
                          </m:r>
                        </m:e>
                        <m:sub>
                          <m:r>
                            <a:rPr lang="ar-AE" b="1" i="1">
                              <a:latin typeface="Cambria Math" panose="02040503050406030204" pitchFamily="18" charset="0"/>
                            </a:rPr>
                            <m:t>𝟐</m:t>
                          </m:r>
                        </m:sub>
                      </m:sSub>
                      <m:sSub>
                        <m:sSubPr>
                          <m:ctrlPr>
                            <a:rPr lang="ar-AE" b="1" i="1">
                              <a:latin typeface="Cambria Math" panose="02040503050406030204" pitchFamily="18" charset="0"/>
                            </a:rPr>
                          </m:ctrlPr>
                        </m:sSubPr>
                        <m:e>
                          <m:r>
                            <a:rPr lang="ar-AE" b="1" i="1">
                              <a:latin typeface="Cambria Math" panose="02040503050406030204" pitchFamily="18" charset="0"/>
                            </a:rPr>
                            <m:t>𝓛</m:t>
                          </m:r>
                        </m:e>
                        <m:sub>
                          <m:r>
                            <a:rPr lang="ar-AE" b="1" i="1">
                              <a:latin typeface="Cambria Math" panose="02040503050406030204" pitchFamily="18" charset="0"/>
                            </a:rPr>
                            <m:t>𝒎𝒐𝒕𝒊𝒐𝒏</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𝝀</m:t>
                          </m:r>
                        </m:e>
                        <m:sub>
                          <m:r>
                            <a:rPr lang="ar-AE" b="1" i="1">
                              <a:latin typeface="Cambria Math" panose="02040503050406030204" pitchFamily="18" charset="0"/>
                            </a:rPr>
                            <m:t>𝟑</m:t>
                          </m:r>
                        </m:sub>
                      </m:sSub>
                      <m:sSub>
                        <m:sSubPr>
                          <m:ctrlPr>
                            <a:rPr lang="ar-AE" b="1" i="1">
                              <a:latin typeface="Cambria Math" panose="02040503050406030204" pitchFamily="18" charset="0"/>
                            </a:rPr>
                          </m:ctrlPr>
                        </m:sSubPr>
                        <m:e>
                          <m:r>
                            <a:rPr lang="ar-AE" b="1" i="1">
                              <a:latin typeface="Cambria Math" panose="02040503050406030204" pitchFamily="18" charset="0"/>
                            </a:rPr>
                            <m:t>𝓛</m:t>
                          </m:r>
                        </m:e>
                        <m:sub>
                          <m:r>
                            <a:rPr lang="ar-AE" b="1" i="1">
                              <a:latin typeface="Cambria Math" panose="02040503050406030204" pitchFamily="18" charset="0"/>
                            </a:rPr>
                            <m:t>𝒐𝒃𝒔𝒕𝒂𝒄𝒍𝒆</m:t>
                          </m:r>
                        </m:sub>
                      </m:sSub>
                    </m:oMath>
                  </m:oMathPara>
                </a14:m>
                <a:endParaRPr lang="ar-AE" b="1" dirty="0"/>
              </a:p>
              <a:p>
                <a:pPr marL="0" indent="0">
                  <a:buNone/>
                </a:pPr>
                <a:r>
                  <a:rPr lang="en-IN" b="1" dirty="0"/>
                  <a:t>Where:</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ℒ</m:t>
                        </m:r>
                      </m:e>
                      <m:sub>
                        <m:r>
                          <a:rPr lang="ar-AE" i="1">
                            <a:latin typeface="Cambria Math" panose="02040503050406030204" pitchFamily="18" charset="0"/>
                          </a:rPr>
                          <m:t>𝐾𝐷</m:t>
                        </m:r>
                      </m:sub>
                    </m:sSub>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𝑓</m:t>
                        </m:r>
                      </m:e>
                      <m:sub>
                        <m:r>
                          <a:rPr lang="ar-AE" i="1">
                            <a:latin typeface="Cambria Math" panose="02040503050406030204" pitchFamily="18" charset="0"/>
                          </a:rPr>
                          <m:t>𝑠𝑡𝑢𝑑𝑒𝑛𝑡</m:t>
                        </m:r>
                      </m:sub>
                      <m:sup>
                        <m:r>
                          <a:rPr lang="ar-AE" i="1">
                            <a:latin typeface="Cambria Math" panose="02040503050406030204" pitchFamily="18" charset="0"/>
                          </a:rPr>
                          <m:t>𝐾𝐷</m:t>
                        </m:r>
                      </m:sup>
                    </m:sSubSup>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𝑡𝑒𝑎𝑐</m:t>
                        </m:r>
                        <m:r>
                          <a:rPr lang="ar-AE" i="1">
                            <a:latin typeface="Cambria Math" panose="02040503050406030204" pitchFamily="18" charset="0"/>
                          </a:rPr>
                          <m:t>h</m:t>
                        </m:r>
                        <m:r>
                          <a:rPr lang="ar-AE" i="1">
                            <a:latin typeface="Cambria Math" panose="02040503050406030204" pitchFamily="18" charset="0"/>
                          </a:rPr>
                          <m:t>𝑒𝑟</m:t>
                        </m:r>
                      </m:sub>
                    </m:sSub>
                    <m:d>
                      <m:dPr>
                        <m:ctrlPr>
                          <a:rPr lang="ar-AE" i="1">
                            <a:latin typeface="Cambria Math" panose="02040503050406030204" pitchFamily="18" charset="0"/>
                          </a:rPr>
                        </m:ctrlPr>
                      </m:dPr>
                      <m:e>
                        <m:r>
                          <a:rPr lang="ar-AE" i="1">
                            <a:latin typeface="Cambria Math" panose="02040503050406030204" pitchFamily="18" charset="0"/>
                          </a:rPr>
                          <m:t>𝑥</m:t>
                        </m:r>
                      </m:e>
                    </m:d>
                    <m:sSubSup>
                      <m:sSubSupPr>
                        <m:ctrlPr>
                          <a:rPr lang="ar-AE" i="1">
                            <a:latin typeface="Cambria Math" panose="02040503050406030204" pitchFamily="18" charset="0"/>
                          </a:rPr>
                        </m:ctrlPr>
                      </m:sSubSupPr>
                      <m:e>
                        <m:r>
                          <a:rPr lang="ar-AE">
                            <a:latin typeface="Cambria Math" panose="02040503050406030204" pitchFamily="18" charset="0"/>
                          </a:rPr>
                          <m:t>∥</m:t>
                        </m:r>
                      </m:e>
                      <m:sub>
                        <m:r>
                          <a:rPr lang="ar-AE">
                            <a:latin typeface="Cambria Math" panose="02040503050406030204" pitchFamily="18" charset="0"/>
                          </a:rPr>
                          <m:t>2</m:t>
                        </m:r>
                      </m:sub>
                      <m:sup>
                        <m:r>
                          <a:rPr lang="ar-AE">
                            <a:latin typeface="Cambria Math" panose="02040503050406030204" pitchFamily="18" charset="0"/>
                          </a:rPr>
                          <m:t>2</m:t>
                        </m:r>
                      </m:sup>
                    </m:sSubSup>
                  </m:oMath>
                </a14:m>
                <a:r>
                  <a:rPr lang="ar-AE" dirty="0"/>
                  <a:t>(</a:t>
                </a:r>
                <a:r>
                  <a:rPr lang="en-IN" dirty="0"/>
                  <a:t>MSE, weight = </a:t>
                </a:r>
                <a:r>
                  <a:rPr lang="en-IN" b="1" dirty="0"/>
                  <a:t>0.5</a:t>
                </a:r>
                <a:r>
                  <a:rPr lang="en-IN" dirty="0"/>
                  <a:t>)</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ℒ</m:t>
                        </m:r>
                      </m:e>
                      <m:sub>
                        <m:r>
                          <a:rPr lang="ar-AE" i="1">
                            <a:latin typeface="Cambria Math" panose="02040503050406030204" pitchFamily="18" charset="0"/>
                          </a:rPr>
                          <m:t>𝑚𝑜𝑡𝑖𝑜𝑛</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𝑝𝑟𝑒𝑑</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𝐺𝑇</m:t>
                        </m:r>
                      </m:sub>
                    </m:sSub>
                    <m:sSubSup>
                      <m:sSubSupPr>
                        <m:ctrlPr>
                          <a:rPr lang="ar-AE" i="1">
                            <a:latin typeface="Cambria Math" panose="02040503050406030204" pitchFamily="18" charset="0"/>
                          </a:rPr>
                        </m:ctrlPr>
                      </m:sSubSupPr>
                      <m:e>
                        <m:r>
                          <a:rPr lang="ar-AE">
                            <a:latin typeface="Cambria Math" panose="02040503050406030204" pitchFamily="18" charset="0"/>
                          </a:rPr>
                          <m:t>∥</m:t>
                        </m:r>
                      </m:e>
                      <m:sub>
                        <m:r>
                          <a:rPr lang="ar-AE">
                            <a:latin typeface="Cambria Math" panose="02040503050406030204" pitchFamily="18" charset="0"/>
                          </a:rPr>
                          <m:t>2</m:t>
                        </m:r>
                      </m:sub>
                      <m:sup>
                        <m:r>
                          <a:rPr lang="ar-AE">
                            <a:latin typeface="Cambria Math" panose="02040503050406030204" pitchFamily="18" charset="0"/>
                          </a:rPr>
                          <m:t>2</m:t>
                        </m:r>
                      </m:sup>
                    </m:sSubSup>
                  </m:oMath>
                </a14:m>
                <a:r>
                  <a:rPr lang="ar-AE" dirty="0"/>
                  <a:t>(</a:t>
                </a:r>
                <a:r>
                  <a:rPr lang="en-IN" dirty="0"/>
                  <a:t>MSE, weight = </a:t>
                </a:r>
                <a:r>
                  <a:rPr lang="en-IN" b="1" dirty="0"/>
                  <a:t>0.3</a:t>
                </a:r>
                <a:r>
                  <a:rPr lang="en-IN" dirty="0"/>
                  <a:t>)</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ℒ</m:t>
                        </m:r>
                      </m:e>
                      <m:sub>
                        <m:r>
                          <a:rPr lang="ar-AE" i="1">
                            <a:latin typeface="Cambria Math" panose="02040503050406030204" pitchFamily="18" charset="0"/>
                          </a:rPr>
                          <m:t>𝑜𝑏𝑠𝑡𝑎𝑐𝑙𝑒</m:t>
                        </m:r>
                      </m:sub>
                    </m:sSub>
                    <m:r>
                      <a:rPr lang="ar-AE">
                        <a:latin typeface="Cambria Math" panose="02040503050406030204" pitchFamily="18" charset="0"/>
                      </a:rPr>
                      <m:t>=</m:t>
                    </m:r>
                    <m:r>
                      <m:rPr>
                        <m:nor/>
                      </m:rPr>
                      <a:rPr lang="en-IN" i="1"/>
                      <m:t>BCEWithLogits</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𝑙𝑜𝑔𝑖𝑡</m:t>
                            </m:r>
                          </m:sub>
                        </m:sSub>
                      </m:e>
                      <m:e>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𝐺𝑇</m:t>
                            </m:r>
                          </m:sub>
                        </m:sSub>
                      </m:e>
                    </m:d>
                  </m:oMath>
                </a14:m>
                <a:r>
                  <a:rPr lang="ar-AE" dirty="0"/>
                  <a:t>(</a:t>
                </a:r>
                <a:r>
                  <a:rPr lang="en-IN" dirty="0"/>
                  <a:t>weight = </a:t>
                </a:r>
                <a:r>
                  <a:rPr lang="en-IN" b="1" dirty="0"/>
                  <a:t>0.2</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FEF71B2E-0B4B-3967-BD60-45F253E19AC8}"/>
                  </a:ext>
                </a:extLst>
              </p:cNvPr>
              <p:cNvSpPr>
                <a:spLocks noGrp="1" noRot="1" noChangeAspect="1" noMove="1" noResize="1" noEditPoints="1" noAdjustHandles="1" noChangeArrowheads="1" noChangeShapeType="1" noTextEdit="1"/>
              </p:cNvSpPr>
              <p:nvPr>
                <p:ph idx="1"/>
              </p:nvPr>
            </p:nvSpPr>
            <p:spPr>
              <a:blipFill>
                <a:blip r:embed="rId2"/>
                <a:stretch>
                  <a:fillRect l="-242"/>
                </a:stretch>
              </a:blipFill>
            </p:spPr>
            <p:txBody>
              <a:bodyPr/>
              <a:lstStyle/>
              <a:p>
                <a:r>
                  <a:rPr lang="en-IN">
                    <a:noFill/>
                  </a:rPr>
                  <a:t> </a:t>
                </a:r>
              </a:p>
            </p:txBody>
          </p:sp>
        </mc:Fallback>
      </mc:AlternateContent>
    </p:spTree>
    <p:extLst>
      <p:ext uri="{BB962C8B-B14F-4D97-AF65-F5344CB8AC3E}">
        <p14:creationId xmlns:p14="http://schemas.microsoft.com/office/powerpoint/2010/main" val="992308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B449E-18B8-9B02-C156-1DE849614973}"/>
              </a:ext>
            </a:extLst>
          </p:cNvPr>
          <p:cNvSpPr>
            <a:spLocks noGrp="1"/>
          </p:cNvSpPr>
          <p:nvPr>
            <p:ph type="title"/>
          </p:nvPr>
        </p:nvSpPr>
        <p:spPr/>
        <p:txBody>
          <a:bodyPr>
            <a:normAutofit fontScale="90000"/>
          </a:bodyPr>
          <a:lstStyle/>
          <a:p>
            <a:r>
              <a:rPr lang="en-US" sz="4400" b="1" dirty="0"/>
              <a:t>Detailed Methodology — Obstacle Detection Pipeline</a:t>
            </a:r>
            <a:br>
              <a:rPr lang="en-US" b="1" dirty="0"/>
            </a:br>
            <a:endParaRPr lang="en-IN" dirty="0"/>
          </a:p>
        </p:txBody>
      </p:sp>
      <p:sp>
        <p:nvSpPr>
          <p:cNvPr id="3" name="Content Placeholder 2">
            <a:extLst>
              <a:ext uri="{FF2B5EF4-FFF2-40B4-BE49-F238E27FC236}">
                <a16:creationId xmlns:a16="http://schemas.microsoft.com/office/drawing/2014/main" id="{CACD7DB4-A84E-81F2-26C4-F13EB21D63E2}"/>
              </a:ext>
            </a:extLst>
          </p:cNvPr>
          <p:cNvSpPr>
            <a:spLocks noGrp="1"/>
          </p:cNvSpPr>
          <p:nvPr>
            <p:ph idx="1"/>
          </p:nvPr>
        </p:nvSpPr>
        <p:spPr/>
        <p:txBody>
          <a:bodyPr>
            <a:normAutofit lnSpcReduction="10000"/>
          </a:bodyPr>
          <a:lstStyle/>
          <a:p>
            <a:pPr marL="0" indent="0">
              <a:buNone/>
            </a:pPr>
            <a:r>
              <a:rPr lang="en-IN" dirty="0"/>
              <a:t>We have Two-Source Weakly- Supervised Labels</a:t>
            </a:r>
          </a:p>
          <a:p>
            <a:r>
              <a:rPr lang="en-US" b="1" dirty="0"/>
              <a:t>Source 1: TUM RGB-D (Depth-Based)</a:t>
            </a:r>
            <a:br>
              <a:rPr lang="en-US" b="1" dirty="0"/>
            </a:br>
            <a:r>
              <a:rPr lang="en-US" dirty="0"/>
              <a:t>Threshold 1.5m chosen empirically (arm's reach + safety buffer)</a:t>
            </a:r>
            <a:br>
              <a:rPr lang="en-US" dirty="0"/>
            </a:br>
            <a:r>
              <a:rPr lang="en-US" dirty="0"/>
              <a:t>Center region only (AR users care about forward-facing obstacles)</a:t>
            </a:r>
          </a:p>
          <a:p>
            <a:r>
              <a:rPr lang="en-US" b="1" dirty="0"/>
              <a:t>Source 2: </a:t>
            </a:r>
            <a:r>
              <a:rPr lang="en-US" b="1" dirty="0" err="1"/>
              <a:t>ARKitScenes</a:t>
            </a:r>
            <a:r>
              <a:rPr lang="en-US" b="1" dirty="0"/>
              <a:t> (Motion-Based Heuristic)</a:t>
            </a:r>
            <a:br>
              <a:rPr lang="en-US" b="1" dirty="0"/>
            </a:br>
            <a:r>
              <a:rPr lang="en-US" dirty="0"/>
              <a:t>Rationale: user stops → likely obstacle blocking path</a:t>
            </a:r>
            <a:br>
              <a:rPr lang="en-US" dirty="0"/>
            </a:br>
            <a:r>
              <a:rPr lang="en-US" dirty="0"/>
              <a:t>Weakly supervised but scales to millions of frames without annotation cost</a:t>
            </a:r>
          </a:p>
          <a:p>
            <a:pPr marL="0" indent="0">
              <a:buNone/>
            </a:pPr>
            <a:endParaRPr lang="en-US" dirty="0"/>
          </a:p>
          <a:p>
            <a:pPr marL="0" indent="0">
              <a:buNone/>
            </a:pPr>
            <a:r>
              <a:rPr lang="en-US" b="1" dirty="0"/>
              <a:t>Role of VJEPA2 in Obstacle Detection </a:t>
            </a:r>
          </a:p>
          <a:p>
            <a:pPr marL="342900" indent="-342900">
              <a:buFont typeface="+mj-lt"/>
              <a:buAutoNum type="arabicPeriod"/>
            </a:pPr>
            <a:r>
              <a:rPr lang="en-US" dirty="0"/>
              <a:t>Teacher provides </a:t>
            </a:r>
            <a:r>
              <a:rPr lang="en-US" b="1" dirty="0"/>
              <a:t>scene-context features</a:t>
            </a:r>
            <a:r>
              <a:rPr lang="en-US" dirty="0"/>
              <a:t> (not pixel-level depth)</a:t>
            </a:r>
          </a:p>
          <a:p>
            <a:pPr marL="342900" indent="-342900">
              <a:buFont typeface="+mj-lt"/>
              <a:buAutoNum type="arabicPeriod"/>
            </a:pPr>
            <a:r>
              <a:rPr lang="en-US" dirty="0"/>
              <a:t>Student's obstacle head learns: </a:t>
            </a:r>
            <a:r>
              <a:rPr lang="en-US" i="1" dirty="0"/>
              <a:t>"Does this scene embedding correspond to a blocked path?“</a:t>
            </a:r>
          </a:p>
          <a:p>
            <a:pPr marL="342900" indent="-342900">
              <a:buFont typeface="+mj-lt"/>
              <a:buAutoNum type="arabicPeriod"/>
            </a:pPr>
            <a:r>
              <a:rPr lang="en-US" dirty="0"/>
              <a:t>V-JEPA2's pretraining on diverse video makes features robust to lighting/texture variations</a:t>
            </a:r>
          </a:p>
          <a:p>
            <a:endParaRPr lang="en-US" dirty="0"/>
          </a:p>
          <a:p>
            <a:endParaRPr lang="en-IN" dirty="0"/>
          </a:p>
        </p:txBody>
      </p:sp>
    </p:spTree>
    <p:extLst>
      <p:ext uri="{BB962C8B-B14F-4D97-AF65-F5344CB8AC3E}">
        <p14:creationId xmlns:p14="http://schemas.microsoft.com/office/powerpoint/2010/main" val="577281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DFEA-CE47-D497-6F25-0120656017A5}"/>
              </a:ext>
            </a:extLst>
          </p:cNvPr>
          <p:cNvSpPr>
            <a:spLocks noGrp="1"/>
          </p:cNvSpPr>
          <p:nvPr>
            <p:ph type="title"/>
          </p:nvPr>
        </p:nvSpPr>
        <p:spPr/>
        <p:txBody>
          <a:bodyPr>
            <a:normAutofit fontScale="90000"/>
          </a:bodyPr>
          <a:lstStyle/>
          <a:p>
            <a:r>
              <a:rPr lang="en-US" sz="4400" b="1" dirty="0"/>
              <a:t>Detailed Methodology — Motion Tracking Pipeline</a:t>
            </a:r>
            <a:br>
              <a:rPr lang="en-US" b="1" dirty="0"/>
            </a:br>
            <a:endParaRPr lang="en-IN" dirty="0"/>
          </a:p>
        </p:txBody>
      </p:sp>
      <p:sp>
        <p:nvSpPr>
          <p:cNvPr id="3" name="Content Placeholder 2">
            <a:extLst>
              <a:ext uri="{FF2B5EF4-FFF2-40B4-BE49-F238E27FC236}">
                <a16:creationId xmlns:a16="http://schemas.microsoft.com/office/drawing/2014/main" id="{65DE7E0B-D7C9-CFAD-2A94-7FF5F5F1FD68}"/>
              </a:ext>
            </a:extLst>
          </p:cNvPr>
          <p:cNvSpPr>
            <a:spLocks noGrp="1"/>
          </p:cNvSpPr>
          <p:nvPr>
            <p:ph idx="1"/>
          </p:nvPr>
        </p:nvSpPr>
        <p:spPr/>
        <p:txBody>
          <a:bodyPr>
            <a:normAutofit lnSpcReduction="10000"/>
          </a:bodyPr>
          <a:lstStyle/>
          <a:p>
            <a:pPr marL="0" indent="0">
              <a:buNone/>
            </a:pPr>
            <a:r>
              <a:rPr lang="en-IN" b="1" dirty="0"/>
              <a:t>6-DoF Motion Vector: [dx, </a:t>
            </a:r>
            <a:r>
              <a:rPr lang="en-IN" b="1" dirty="0" err="1"/>
              <a:t>dy</a:t>
            </a:r>
            <a:r>
              <a:rPr lang="en-IN" b="1" dirty="0"/>
              <a:t>, </a:t>
            </a:r>
            <a:r>
              <a:rPr lang="en-IN" b="1" dirty="0" err="1"/>
              <a:t>dz</a:t>
            </a:r>
            <a:r>
              <a:rPr lang="en-IN" b="1" dirty="0"/>
              <a:t>, yaw, speed, confidence]</a:t>
            </a:r>
          </a:p>
          <a:p>
            <a:r>
              <a:rPr lang="en-IN" b="1" dirty="0"/>
              <a:t>Ground Truth Generation</a:t>
            </a:r>
          </a:p>
          <a:p>
            <a:r>
              <a:rPr lang="en-IN" b="1" dirty="0"/>
              <a:t>TUM RGB-D (High Precision):</a:t>
            </a:r>
            <a:endParaRPr lang="en-IN" dirty="0"/>
          </a:p>
          <a:p>
            <a:r>
              <a:rPr lang="en-IN" dirty="0"/>
              <a:t>Motion capture system provides per-frame 7-d pose: </a:t>
            </a:r>
            <a:r>
              <a:rPr lang="en-IN" b="1" dirty="0"/>
              <a:t>[</a:t>
            </a:r>
            <a:r>
              <a:rPr lang="en-IN" b="1" dirty="0" err="1"/>
              <a:t>tx</a:t>
            </a:r>
            <a:r>
              <a:rPr lang="en-IN" b="1" dirty="0"/>
              <a:t>, ty, </a:t>
            </a:r>
            <a:r>
              <a:rPr lang="en-IN" b="1" dirty="0" err="1"/>
              <a:t>tz</a:t>
            </a:r>
            <a:r>
              <a:rPr lang="en-IN" b="1" dirty="0"/>
              <a:t>, </a:t>
            </a:r>
            <a:r>
              <a:rPr lang="en-IN" b="1" dirty="0" err="1"/>
              <a:t>qx</a:t>
            </a:r>
            <a:r>
              <a:rPr lang="en-IN" b="1" dirty="0"/>
              <a:t>, </a:t>
            </a:r>
            <a:r>
              <a:rPr lang="en-IN" b="1" dirty="0" err="1"/>
              <a:t>qy</a:t>
            </a:r>
            <a:r>
              <a:rPr lang="en-IN" b="1" dirty="0"/>
              <a:t>, </a:t>
            </a:r>
            <a:r>
              <a:rPr lang="en-IN" b="1" dirty="0" err="1"/>
              <a:t>qz</a:t>
            </a:r>
            <a:r>
              <a:rPr lang="en-IN" b="1" dirty="0"/>
              <a:t>, </a:t>
            </a:r>
            <a:r>
              <a:rPr lang="en-IN" b="1" dirty="0" err="1"/>
              <a:t>qw</a:t>
            </a:r>
            <a:r>
              <a:rPr lang="en-IN" b="1" dirty="0"/>
              <a:t>]</a:t>
            </a:r>
            <a:endParaRPr lang="en-IN" dirty="0"/>
          </a:p>
          <a:p>
            <a:r>
              <a:rPr lang="en-IN" dirty="0"/>
              <a:t>Translation deltas: </a:t>
            </a:r>
            <a:r>
              <a:rPr lang="en-IN" b="1" dirty="0"/>
              <a:t>dx = p2.tx - p1.tx</a:t>
            </a:r>
            <a:r>
              <a:rPr lang="en-IN" dirty="0"/>
              <a:t> (same for y, z)</a:t>
            </a:r>
          </a:p>
          <a:p>
            <a:r>
              <a:rPr lang="en-IN" dirty="0"/>
              <a:t>Rotation: Quaternion → Yaw via </a:t>
            </a:r>
            <a:r>
              <a:rPr lang="en-IN" b="1" dirty="0"/>
              <a:t>atan2(2(</a:t>
            </a:r>
            <a:r>
              <a:rPr lang="en-IN" b="1" dirty="0" err="1"/>
              <a:t>qw·qz</a:t>
            </a:r>
            <a:r>
              <a:rPr lang="en-IN" b="1" dirty="0"/>
              <a:t> + </a:t>
            </a:r>
            <a:r>
              <a:rPr lang="en-IN" b="1" dirty="0" err="1"/>
              <a:t>qx·qy</a:t>
            </a:r>
            <a:r>
              <a:rPr lang="en-IN" b="1" dirty="0"/>
              <a:t>), 1 - 2(qy² + qz²))</a:t>
            </a:r>
            <a:endParaRPr lang="en-IN" dirty="0"/>
          </a:p>
          <a:p>
            <a:r>
              <a:rPr lang="en-IN" dirty="0"/>
              <a:t>Speed: </a:t>
            </a:r>
            <a:r>
              <a:rPr lang="en-IN" b="1" dirty="0"/>
              <a:t>‖(</a:t>
            </a:r>
            <a:r>
              <a:rPr lang="en-IN" b="1" dirty="0" err="1"/>
              <a:t>dx,dy,dz</a:t>
            </a:r>
            <a:r>
              <a:rPr lang="en-IN" b="1" dirty="0"/>
              <a:t>)‖ / </a:t>
            </a:r>
            <a:r>
              <a:rPr lang="el-GR" b="1" dirty="0"/>
              <a:t>Δ</a:t>
            </a:r>
            <a:r>
              <a:rPr lang="en-IN" b="1" dirty="0"/>
              <a:t>t</a:t>
            </a:r>
            <a:endParaRPr lang="en-IN" dirty="0"/>
          </a:p>
          <a:p>
            <a:pPr marL="0" indent="0">
              <a:buNone/>
            </a:pPr>
            <a:r>
              <a:rPr lang="en-US" b="1" dirty="0"/>
              <a:t>Role of V-JEPA2 in Motion Tracking</a:t>
            </a:r>
          </a:p>
          <a:p>
            <a:r>
              <a:rPr lang="en-US" b="1" dirty="0"/>
              <a:t>Conv3d temporal kernel</a:t>
            </a:r>
            <a:r>
              <a:rPr lang="en-US" dirty="0"/>
              <a:t> processes 2 frames → captures optical flow implicitly</a:t>
            </a:r>
          </a:p>
          <a:p>
            <a:r>
              <a:rPr lang="en-US" dirty="0"/>
              <a:t>Teacher's CLS token encodes motion signature in its 768-d space</a:t>
            </a:r>
          </a:p>
          <a:p>
            <a:r>
              <a:rPr lang="en-US" dirty="0"/>
              <a:t>Student's motion head learns linear regression from compressed features to 6-DoF vector</a:t>
            </a:r>
          </a:p>
          <a:p>
            <a:pPr marL="0" indent="0">
              <a:buNone/>
            </a:pPr>
            <a:endParaRPr lang="en-US" b="1" dirty="0"/>
          </a:p>
        </p:txBody>
      </p:sp>
    </p:spTree>
    <p:extLst>
      <p:ext uri="{BB962C8B-B14F-4D97-AF65-F5344CB8AC3E}">
        <p14:creationId xmlns:p14="http://schemas.microsoft.com/office/powerpoint/2010/main" val="1781827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C86F-8F50-552F-A0CC-EE760D73F0CF}"/>
              </a:ext>
            </a:extLst>
          </p:cNvPr>
          <p:cNvSpPr>
            <a:spLocks noGrp="1"/>
          </p:cNvSpPr>
          <p:nvPr>
            <p:ph type="title"/>
          </p:nvPr>
        </p:nvSpPr>
        <p:spPr/>
        <p:txBody>
          <a:bodyPr/>
          <a:lstStyle/>
          <a:p>
            <a:endParaRPr lang="en-IN"/>
          </a:p>
        </p:txBody>
      </p:sp>
      <p:pic>
        <p:nvPicPr>
          <p:cNvPr id="40" name="Content Placeholder 39">
            <a:extLst>
              <a:ext uri="{FF2B5EF4-FFF2-40B4-BE49-F238E27FC236}">
                <a16:creationId xmlns:a16="http://schemas.microsoft.com/office/drawing/2014/main" id="{8072DA22-8946-84AF-D23A-85899A8C9E6E}"/>
              </a:ext>
            </a:extLst>
          </p:cNvPr>
          <p:cNvPicPr>
            <a:picLocks noGrp="1" noChangeAspect="1"/>
          </p:cNvPicPr>
          <p:nvPr>
            <p:ph idx="1"/>
          </p:nvPr>
        </p:nvPicPr>
        <p:blipFill>
          <a:blip r:embed="rId2"/>
          <a:stretch>
            <a:fillRect/>
          </a:stretch>
        </p:blipFill>
        <p:spPr>
          <a:xfrm>
            <a:off x="831410" y="2497394"/>
            <a:ext cx="9974242" cy="2900405"/>
          </a:xfrm>
          <a:prstGeom prst="rect">
            <a:avLst/>
          </a:prstGeom>
        </p:spPr>
      </p:pic>
    </p:spTree>
    <p:extLst>
      <p:ext uri="{BB962C8B-B14F-4D97-AF65-F5344CB8AC3E}">
        <p14:creationId xmlns:p14="http://schemas.microsoft.com/office/powerpoint/2010/main" val="1411805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07F9-FC58-299C-8D4A-3865B925AB93}"/>
              </a:ext>
            </a:extLst>
          </p:cNvPr>
          <p:cNvSpPr>
            <a:spLocks noGrp="1"/>
          </p:cNvSpPr>
          <p:nvPr>
            <p:ph type="title"/>
          </p:nvPr>
        </p:nvSpPr>
        <p:spPr/>
        <p:txBody>
          <a:bodyPr/>
          <a:lstStyle/>
          <a:p>
            <a:r>
              <a:rPr lang="en-IN" b="1" dirty="0"/>
              <a:t>Detailed Methodology — Dataset Strategy</a:t>
            </a:r>
            <a:br>
              <a:rPr lang="en-IN" b="1" dirty="0"/>
            </a:br>
            <a:endParaRPr lang="en-IN" dirty="0"/>
          </a:p>
        </p:txBody>
      </p:sp>
      <p:graphicFrame>
        <p:nvGraphicFramePr>
          <p:cNvPr id="4" name="Content Placeholder 3">
            <a:extLst>
              <a:ext uri="{FF2B5EF4-FFF2-40B4-BE49-F238E27FC236}">
                <a16:creationId xmlns:a16="http://schemas.microsoft.com/office/drawing/2014/main" id="{1CD2C67E-D508-4C51-168C-0B072FD4E63A}"/>
              </a:ext>
            </a:extLst>
          </p:cNvPr>
          <p:cNvGraphicFramePr>
            <a:graphicFrameLocks noGrp="1"/>
          </p:cNvGraphicFramePr>
          <p:nvPr>
            <p:ph idx="1"/>
            <p:extLst>
              <p:ext uri="{D42A27DB-BD31-4B8C-83A1-F6EECF244321}">
                <p14:modId xmlns:p14="http://schemas.microsoft.com/office/powerpoint/2010/main" val="3543480572"/>
              </p:ext>
            </p:extLst>
          </p:nvPr>
        </p:nvGraphicFramePr>
        <p:xfrm>
          <a:off x="843116" y="1770325"/>
          <a:ext cx="10505768" cy="2802193"/>
        </p:xfrm>
        <a:graphic>
          <a:graphicData uri="http://schemas.openxmlformats.org/drawingml/2006/table">
            <a:tbl>
              <a:tblPr>
                <a:tableStyleId>{BC89EF96-8CEA-46FF-86C4-4CE0E7609802}</a:tableStyleId>
              </a:tblPr>
              <a:tblGrid>
                <a:gridCol w="2626442">
                  <a:extLst>
                    <a:ext uri="{9D8B030D-6E8A-4147-A177-3AD203B41FA5}">
                      <a16:colId xmlns:a16="http://schemas.microsoft.com/office/drawing/2014/main" val="2615679168"/>
                    </a:ext>
                  </a:extLst>
                </a:gridCol>
                <a:gridCol w="2626442">
                  <a:extLst>
                    <a:ext uri="{9D8B030D-6E8A-4147-A177-3AD203B41FA5}">
                      <a16:colId xmlns:a16="http://schemas.microsoft.com/office/drawing/2014/main" val="4124097314"/>
                    </a:ext>
                  </a:extLst>
                </a:gridCol>
                <a:gridCol w="2626442">
                  <a:extLst>
                    <a:ext uri="{9D8B030D-6E8A-4147-A177-3AD203B41FA5}">
                      <a16:colId xmlns:a16="http://schemas.microsoft.com/office/drawing/2014/main" val="4011164998"/>
                    </a:ext>
                  </a:extLst>
                </a:gridCol>
                <a:gridCol w="2626442">
                  <a:extLst>
                    <a:ext uri="{9D8B030D-6E8A-4147-A177-3AD203B41FA5}">
                      <a16:colId xmlns:a16="http://schemas.microsoft.com/office/drawing/2014/main" val="3511394106"/>
                    </a:ext>
                  </a:extLst>
                </a:gridCol>
              </a:tblGrid>
              <a:tr h="384311">
                <a:tc>
                  <a:txBody>
                    <a:bodyPr/>
                    <a:lstStyle/>
                    <a:p>
                      <a:pPr fontAlgn="b">
                        <a:buNone/>
                      </a:pPr>
                      <a:r>
                        <a:rPr lang="en-IN" sz="1500" b="1" dirty="0">
                          <a:solidFill>
                            <a:schemeClr val="tx1"/>
                          </a:solidFill>
                          <a:effectLst/>
                        </a:rPr>
                        <a:t>Dataset</a:t>
                      </a:r>
                    </a:p>
                  </a:txBody>
                  <a:tcPr marL="75484" marR="75484" marT="37742" marB="37742" anchor="b"/>
                </a:tc>
                <a:tc>
                  <a:txBody>
                    <a:bodyPr/>
                    <a:lstStyle/>
                    <a:p>
                      <a:pPr fontAlgn="b">
                        <a:buNone/>
                      </a:pPr>
                      <a:r>
                        <a:rPr lang="en-IN" sz="1500" b="1">
                          <a:solidFill>
                            <a:schemeClr val="tx1"/>
                          </a:solidFill>
                          <a:effectLst/>
                        </a:rPr>
                        <a:t>Strength</a:t>
                      </a:r>
                    </a:p>
                  </a:txBody>
                  <a:tcPr marL="75484" marR="75484" marT="37742" marB="37742" anchor="b"/>
                </a:tc>
                <a:tc>
                  <a:txBody>
                    <a:bodyPr/>
                    <a:lstStyle/>
                    <a:p>
                      <a:pPr fontAlgn="b">
                        <a:buNone/>
                      </a:pPr>
                      <a:r>
                        <a:rPr lang="en-IN" sz="1500" b="1">
                          <a:solidFill>
                            <a:schemeClr val="tx1"/>
                          </a:solidFill>
                          <a:effectLst/>
                        </a:rPr>
                        <a:t>Weakness</a:t>
                      </a:r>
                    </a:p>
                  </a:txBody>
                  <a:tcPr marL="75484" marR="75484" marT="37742" marB="37742" anchor="b"/>
                </a:tc>
                <a:tc>
                  <a:txBody>
                    <a:bodyPr/>
                    <a:lstStyle/>
                    <a:p>
                      <a:pPr fontAlgn="b">
                        <a:buNone/>
                      </a:pPr>
                      <a:r>
                        <a:rPr lang="en-IN" sz="1500" b="1" dirty="0">
                          <a:solidFill>
                            <a:schemeClr val="tx1"/>
                          </a:solidFill>
                          <a:effectLst/>
                        </a:rPr>
                        <a:t>Our Use</a:t>
                      </a:r>
                    </a:p>
                  </a:txBody>
                  <a:tcPr marL="75484" marR="75484" marT="37742" marB="37742" anchor="b"/>
                </a:tc>
                <a:extLst>
                  <a:ext uri="{0D108BD9-81ED-4DB2-BD59-A6C34878D82A}">
                    <a16:rowId xmlns:a16="http://schemas.microsoft.com/office/drawing/2014/main" val="3231109053"/>
                  </a:ext>
                </a:extLst>
              </a:tr>
              <a:tr h="1208941">
                <a:tc>
                  <a:txBody>
                    <a:bodyPr/>
                    <a:lstStyle/>
                    <a:p>
                      <a:pPr fontAlgn="base">
                        <a:buNone/>
                      </a:pPr>
                      <a:r>
                        <a:rPr lang="en-IN" sz="1500" b="1">
                          <a:solidFill>
                            <a:schemeClr val="tx1"/>
                          </a:solidFill>
                          <a:effectLst/>
                        </a:rPr>
                        <a:t>ARKitScenes</a:t>
                      </a:r>
                      <a:endParaRPr lang="en-IN" sz="1500">
                        <a:solidFill>
                          <a:schemeClr val="tx1"/>
                        </a:solidFill>
                        <a:effectLst/>
                      </a:endParaRPr>
                    </a:p>
                  </a:txBody>
                  <a:tcPr marL="75484" marR="75484" marT="37742" marB="37742" anchor="ctr"/>
                </a:tc>
                <a:tc>
                  <a:txBody>
                    <a:bodyPr/>
                    <a:lstStyle/>
                    <a:p>
                      <a:pPr fontAlgn="base">
                        <a:buNone/>
                      </a:pPr>
                      <a:r>
                        <a:rPr lang="en-IN" sz="1500">
                          <a:effectLst/>
                        </a:rPr>
                        <a:t>Consumer AR scenes, large scale, diverse indoor</a:t>
                      </a:r>
                    </a:p>
                  </a:txBody>
                  <a:tcPr marL="75484" marR="75484" marT="37742" marB="37742" anchor="ctr"/>
                </a:tc>
                <a:tc>
                  <a:txBody>
                    <a:bodyPr/>
                    <a:lstStyle/>
                    <a:p>
                      <a:pPr fontAlgn="base">
                        <a:buNone/>
                      </a:pPr>
                      <a:r>
                        <a:rPr lang="en-IN" sz="1500">
                          <a:effectLst/>
                        </a:rPr>
                        <a:t>No depth-based obstacle GT</a:t>
                      </a:r>
                    </a:p>
                  </a:txBody>
                  <a:tcPr marL="75484" marR="75484" marT="37742" marB="37742" anchor="ctr"/>
                </a:tc>
                <a:tc>
                  <a:txBody>
                    <a:bodyPr/>
                    <a:lstStyle/>
                    <a:p>
                      <a:pPr fontAlgn="base">
                        <a:buNone/>
                      </a:pPr>
                      <a:r>
                        <a:rPr lang="en-IN" sz="1500">
                          <a:effectLst/>
                        </a:rPr>
                        <a:t>Motion richness + heuristic obstacles</a:t>
                      </a:r>
                    </a:p>
                  </a:txBody>
                  <a:tcPr marL="75484" marR="75484" marT="37742" marB="37742" anchor="ctr"/>
                </a:tc>
                <a:extLst>
                  <a:ext uri="{0D108BD9-81ED-4DB2-BD59-A6C34878D82A}">
                    <a16:rowId xmlns:a16="http://schemas.microsoft.com/office/drawing/2014/main" val="2543386154"/>
                  </a:ext>
                </a:extLst>
              </a:tr>
              <a:tr h="1208941">
                <a:tc>
                  <a:txBody>
                    <a:bodyPr/>
                    <a:lstStyle/>
                    <a:p>
                      <a:pPr fontAlgn="base">
                        <a:buNone/>
                      </a:pPr>
                      <a:r>
                        <a:rPr lang="en-IN" sz="1500" b="1" dirty="0">
                          <a:solidFill>
                            <a:schemeClr val="tx1"/>
                          </a:solidFill>
                          <a:effectLst/>
                        </a:rPr>
                        <a:t>TUM RGB-D</a:t>
                      </a:r>
                      <a:endParaRPr lang="en-IN" sz="1500" dirty="0">
                        <a:solidFill>
                          <a:schemeClr val="tx1"/>
                        </a:solidFill>
                        <a:effectLst/>
                      </a:endParaRPr>
                    </a:p>
                  </a:txBody>
                  <a:tcPr marL="75484" marR="75484" marT="37742" marB="37742" anchor="ctr"/>
                </a:tc>
                <a:tc>
                  <a:txBody>
                    <a:bodyPr/>
                    <a:lstStyle/>
                    <a:p>
                      <a:pPr fontAlgn="base">
                        <a:buNone/>
                      </a:pPr>
                      <a:r>
                        <a:rPr lang="en-IN" sz="1500">
                          <a:effectLst/>
                        </a:rPr>
                        <a:t>Mocap-precise 6-DoF, depth maps</a:t>
                      </a:r>
                    </a:p>
                  </a:txBody>
                  <a:tcPr marL="75484" marR="75484" marT="37742" marB="37742" anchor="ctr"/>
                </a:tc>
                <a:tc>
                  <a:txBody>
                    <a:bodyPr/>
                    <a:lstStyle/>
                    <a:p>
                      <a:pPr fontAlgn="base">
                        <a:buNone/>
                      </a:pPr>
                      <a:r>
                        <a:rPr lang="en-IN" sz="1500">
                          <a:effectLst/>
                        </a:rPr>
                        <a:t>Small scale, lab settings</a:t>
                      </a:r>
                    </a:p>
                  </a:txBody>
                  <a:tcPr marL="75484" marR="75484" marT="37742" marB="37742" anchor="ctr"/>
                </a:tc>
                <a:tc>
                  <a:txBody>
                    <a:bodyPr/>
                    <a:lstStyle/>
                    <a:p>
                      <a:pPr fontAlgn="base">
                        <a:buNone/>
                      </a:pPr>
                      <a:r>
                        <a:rPr lang="fr-FR" sz="1500" dirty="0" err="1">
                          <a:effectLst/>
                        </a:rPr>
                        <a:t>Depth-based</a:t>
                      </a:r>
                      <a:r>
                        <a:rPr lang="fr-FR" sz="1500" dirty="0">
                          <a:effectLst/>
                        </a:rPr>
                        <a:t> obstacle GT + motion validation</a:t>
                      </a:r>
                    </a:p>
                  </a:txBody>
                  <a:tcPr marL="75484" marR="75484" marT="37742" marB="37742" anchor="ctr"/>
                </a:tc>
                <a:extLst>
                  <a:ext uri="{0D108BD9-81ED-4DB2-BD59-A6C34878D82A}">
                    <a16:rowId xmlns:a16="http://schemas.microsoft.com/office/drawing/2014/main" val="2232453282"/>
                  </a:ext>
                </a:extLst>
              </a:tr>
            </a:tbl>
          </a:graphicData>
        </a:graphic>
      </p:graphicFrame>
    </p:spTree>
    <p:extLst>
      <p:ext uri="{BB962C8B-B14F-4D97-AF65-F5344CB8AC3E}">
        <p14:creationId xmlns:p14="http://schemas.microsoft.com/office/powerpoint/2010/main" val="89469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4B6D-628C-C460-286A-ABF8745696C6}"/>
              </a:ext>
            </a:extLst>
          </p:cNvPr>
          <p:cNvSpPr>
            <a:spLocks noGrp="1"/>
          </p:cNvSpPr>
          <p:nvPr>
            <p:ph type="title"/>
          </p:nvPr>
        </p:nvSpPr>
        <p:spPr/>
        <p:txBody>
          <a:bodyPr/>
          <a:lstStyle/>
          <a:p>
            <a:r>
              <a:rPr lang="en-IN" b="1" dirty="0"/>
              <a:t>Results and Evaluation </a:t>
            </a:r>
          </a:p>
        </p:txBody>
      </p:sp>
      <p:pic>
        <p:nvPicPr>
          <p:cNvPr id="5" name="Content Placeholder 4">
            <a:extLst>
              <a:ext uri="{FF2B5EF4-FFF2-40B4-BE49-F238E27FC236}">
                <a16:creationId xmlns:a16="http://schemas.microsoft.com/office/drawing/2014/main" id="{BFB8AF10-7A16-7F30-FC23-5099AA33E17A}"/>
              </a:ext>
            </a:extLst>
          </p:cNvPr>
          <p:cNvPicPr>
            <a:picLocks noGrp="1" noChangeAspect="1"/>
          </p:cNvPicPr>
          <p:nvPr>
            <p:ph idx="1"/>
          </p:nvPr>
        </p:nvPicPr>
        <p:blipFill>
          <a:blip r:embed="rId2"/>
          <a:stretch>
            <a:fillRect/>
          </a:stretch>
        </p:blipFill>
        <p:spPr>
          <a:xfrm>
            <a:off x="1066799" y="1729016"/>
            <a:ext cx="4268253" cy="4366604"/>
          </a:xfrm>
          <a:prstGeom prst="rect">
            <a:avLst/>
          </a:prstGeom>
        </p:spPr>
      </p:pic>
      <p:pic>
        <p:nvPicPr>
          <p:cNvPr id="9" name="Picture 8">
            <a:extLst>
              <a:ext uri="{FF2B5EF4-FFF2-40B4-BE49-F238E27FC236}">
                <a16:creationId xmlns:a16="http://schemas.microsoft.com/office/drawing/2014/main" id="{C07CAA48-BF0A-FBA0-AD37-4E6C0CB89D18}"/>
              </a:ext>
            </a:extLst>
          </p:cNvPr>
          <p:cNvPicPr>
            <a:picLocks noChangeAspect="1"/>
          </p:cNvPicPr>
          <p:nvPr/>
        </p:nvPicPr>
        <p:blipFill>
          <a:blip r:embed="rId3"/>
          <a:stretch>
            <a:fillRect/>
          </a:stretch>
        </p:blipFill>
        <p:spPr>
          <a:xfrm>
            <a:off x="6789743" y="1729016"/>
            <a:ext cx="4128966" cy="4366604"/>
          </a:xfrm>
          <a:prstGeom prst="rect">
            <a:avLst/>
          </a:prstGeom>
        </p:spPr>
      </p:pic>
    </p:spTree>
    <p:extLst>
      <p:ext uri="{BB962C8B-B14F-4D97-AF65-F5344CB8AC3E}">
        <p14:creationId xmlns:p14="http://schemas.microsoft.com/office/powerpoint/2010/main" val="3734022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34F25-C162-F8F5-3226-7DA6A84C2936}"/>
              </a:ext>
            </a:extLst>
          </p:cNvPr>
          <p:cNvSpPr>
            <a:spLocks noGrp="1"/>
          </p:cNvSpPr>
          <p:nvPr>
            <p:ph type="title"/>
          </p:nvPr>
        </p:nvSpPr>
        <p:spPr/>
        <p:txBody>
          <a:bodyPr/>
          <a:lstStyle/>
          <a:p>
            <a:r>
              <a:rPr lang="en-IN" b="1" dirty="0"/>
              <a:t>Summary </a:t>
            </a:r>
          </a:p>
        </p:txBody>
      </p:sp>
      <p:sp>
        <p:nvSpPr>
          <p:cNvPr id="3" name="Content Placeholder 2">
            <a:extLst>
              <a:ext uri="{FF2B5EF4-FFF2-40B4-BE49-F238E27FC236}">
                <a16:creationId xmlns:a16="http://schemas.microsoft.com/office/drawing/2014/main" id="{697AD2BA-9B97-AB1B-80B0-07A6365C35E7}"/>
              </a:ext>
            </a:extLst>
          </p:cNvPr>
          <p:cNvSpPr>
            <a:spLocks noGrp="1"/>
          </p:cNvSpPr>
          <p:nvPr>
            <p:ph idx="1"/>
          </p:nvPr>
        </p:nvSpPr>
        <p:spPr/>
        <p:txBody>
          <a:bodyPr/>
          <a:lstStyle/>
          <a:p>
            <a:r>
              <a:rPr lang="en-US" i="1" dirty="0"/>
              <a:t>V-JEPA2 is one of the best video understanding models available, but it's too slow for mobile AR. We distilled it into a model 25 times smaller and 15 times faster, while adding three specialized heads for motion estimation, obstacle detection, and SLAM features — all from a single forward pass. Trained on both </a:t>
            </a:r>
            <a:r>
              <a:rPr lang="en-US" i="1" dirty="0" err="1"/>
              <a:t>ARKitScenes</a:t>
            </a:r>
            <a:r>
              <a:rPr lang="en-US" i="1" dirty="0"/>
              <a:t> and TUM RGB-D with mixed-precision-safe losses, our student achieves 3.5 cm motion accuracy and 92% obstacle detection at over 70 FPS — bridging the gap between research-grade video transformers and real-world AR deployment on phones</a:t>
            </a:r>
            <a:endParaRPr lang="en-IN" dirty="0"/>
          </a:p>
        </p:txBody>
      </p:sp>
    </p:spTree>
    <p:extLst>
      <p:ext uri="{BB962C8B-B14F-4D97-AF65-F5344CB8AC3E}">
        <p14:creationId xmlns:p14="http://schemas.microsoft.com/office/powerpoint/2010/main" val="1282891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DB097-5CA1-58A8-1EBB-E6D4DC8881F2}"/>
              </a:ext>
            </a:extLst>
          </p:cNvPr>
          <p:cNvSpPr>
            <a:spLocks noGrp="1"/>
          </p:cNvSpPr>
          <p:nvPr>
            <p:ph type="title"/>
          </p:nvPr>
        </p:nvSpPr>
        <p:spPr/>
        <p:txBody>
          <a:bodyPr/>
          <a:lstStyle/>
          <a:p>
            <a:r>
              <a:rPr lang="en-IN" b="1" dirty="0"/>
              <a:t>Future work </a:t>
            </a:r>
          </a:p>
        </p:txBody>
      </p:sp>
      <p:sp>
        <p:nvSpPr>
          <p:cNvPr id="3" name="Content Placeholder 2">
            <a:extLst>
              <a:ext uri="{FF2B5EF4-FFF2-40B4-BE49-F238E27FC236}">
                <a16:creationId xmlns:a16="http://schemas.microsoft.com/office/drawing/2014/main" id="{34B79FEA-773F-F469-6B18-9FEDE2CF7F88}"/>
              </a:ext>
            </a:extLst>
          </p:cNvPr>
          <p:cNvSpPr>
            <a:spLocks noGrp="1"/>
          </p:cNvSpPr>
          <p:nvPr>
            <p:ph idx="1"/>
          </p:nvPr>
        </p:nvSpPr>
        <p:spPr/>
        <p:txBody>
          <a:bodyPr/>
          <a:lstStyle/>
          <a:p>
            <a:pPr marL="0" indent="0">
              <a:buNone/>
            </a:pPr>
            <a:r>
              <a:rPr lang="en-IN" dirty="0"/>
              <a:t>Since we have implemented this large world model suitable for mobile devices achieving the tasks of AR Navigation. We look forward to implement this fundamental model for the causes like assisting the visually impaired or elderly care by using VJEPA2’s scene understanding features.</a:t>
            </a:r>
          </a:p>
          <a:p>
            <a:endParaRPr lang="en-IN" dirty="0"/>
          </a:p>
        </p:txBody>
      </p:sp>
    </p:spTree>
    <p:extLst>
      <p:ext uri="{BB962C8B-B14F-4D97-AF65-F5344CB8AC3E}">
        <p14:creationId xmlns:p14="http://schemas.microsoft.com/office/powerpoint/2010/main" val="3206491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A1C2-79B8-97D7-58A5-B7D5C9049478}"/>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02283D3B-C425-D449-0FAB-B000160302BB}"/>
              </a:ext>
            </a:extLst>
          </p:cNvPr>
          <p:cNvSpPr>
            <a:spLocks noGrp="1"/>
          </p:cNvSpPr>
          <p:nvPr>
            <p:ph idx="1"/>
          </p:nvPr>
        </p:nvSpPr>
        <p:spPr/>
        <p:txBody>
          <a:bodyPr/>
          <a:lstStyle/>
          <a:p>
            <a:r>
              <a:rPr lang="en-IN" dirty="0" err="1"/>
              <a:t>Touvron</a:t>
            </a:r>
            <a:r>
              <a:rPr lang="en-IN" dirty="0"/>
              <a:t>, H., Cord, M., </a:t>
            </a:r>
            <a:r>
              <a:rPr lang="en-IN" dirty="0" err="1"/>
              <a:t>Douze</a:t>
            </a:r>
            <a:r>
              <a:rPr lang="en-IN" dirty="0"/>
              <a:t>, M., Massa, F., </a:t>
            </a:r>
            <a:r>
              <a:rPr lang="en-IN" dirty="0" err="1"/>
              <a:t>Sablayrolles</a:t>
            </a:r>
            <a:r>
              <a:rPr lang="en-IN" dirty="0"/>
              <a:t>, A., &amp; Jégou, H. (2020). Training data-efficient image transformers &amp; distillation through attention. </a:t>
            </a:r>
            <a:r>
              <a:rPr lang="en-IN" dirty="0" err="1"/>
              <a:t>ArXiv</a:t>
            </a:r>
            <a:r>
              <a:rPr lang="en-IN" dirty="0"/>
              <a:t>. </a:t>
            </a:r>
            <a:r>
              <a:rPr lang="en-IN" dirty="0">
                <a:hlinkClick r:id="rId2"/>
              </a:rPr>
              <a:t>https://arxiv.org/abs/2012.12877</a:t>
            </a:r>
            <a:endParaRPr lang="en-IN" dirty="0"/>
          </a:p>
          <a:p>
            <a:r>
              <a:rPr lang="en-US" altLang="en-US" sz="1600" dirty="0" err="1">
                <a:latin typeface="Times New Roman" panose="02020603050405020304" pitchFamily="18" charset="0"/>
                <a:cs typeface="Times New Roman" panose="02020603050405020304" pitchFamily="18" charset="0"/>
              </a:rPr>
              <a:t>Assran</a:t>
            </a:r>
            <a:r>
              <a:rPr lang="en-US" altLang="en-US" sz="1600" dirty="0">
                <a:latin typeface="Times New Roman" panose="02020603050405020304" pitchFamily="18" charset="0"/>
                <a:cs typeface="Times New Roman" panose="02020603050405020304" pitchFamily="18" charset="0"/>
              </a:rPr>
              <a:t>, M., Bardes, A., Fan, D., Garrido, Q., Howes, R., Muckley, M., Rizvi, A., Roberts, C., Sinha, K., </a:t>
            </a:r>
            <a:r>
              <a:rPr lang="en-US" altLang="en-US" sz="1600" dirty="0" err="1">
                <a:latin typeface="Times New Roman" panose="02020603050405020304" pitchFamily="18" charset="0"/>
                <a:cs typeface="Times New Roman" panose="02020603050405020304" pitchFamily="18" charset="0"/>
              </a:rPr>
              <a:t>Zholus</a:t>
            </a:r>
            <a:r>
              <a:rPr lang="en-US" altLang="en-US" sz="1600" dirty="0">
                <a:latin typeface="Times New Roman" panose="02020603050405020304" pitchFamily="18" charset="0"/>
                <a:cs typeface="Times New Roman" panose="02020603050405020304" pitchFamily="18" charset="0"/>
              </a:rPr>
              <a:t>, A., Arnaud, S., </a:t>
            </a:r>
            <a:r>
              <a:rPr lang="en-US" altLang="en-US" sz="1600" dirty="0" err="1">
                <a:latin typeface="Times New Roman" panose="02020603050405020304" pitchFamily="18" charset="0"/>
                <a:cs typeface="Times New Roman" panose="02020603050405020304" pitchFamily="18" charset="0"/>
              </a:rPr>
              <a:t>Gejji</a:t>
            </a:r>
            <a:r>
              <a:rPr lang="en-US" altLang="en-US" sz="1600" dirty="0">
                <a:latin typeface="Times New Roman" panose="02020603050405020304" pitchFamily="18" charset="0"/>
                <a:cs typeface="Times New Roman" panose="02020603050405020304" pitchFamily="18" charset="0"/>
              </a:rPr>
              <a:t>, A., Martin, A., Hogan, F. R., Dugas, D., Bojanowski, P., </a:t>
            </a:r>
            <a:r>
              <a:rPr lang="en-US" altLang="en-US" sz="1600" dirty="0" err="1">
                <a:latin typeface="Times New Roman" panose="02020603050405020304" pitchFamily="18" charset="0"/>
                <a:cs typeface="Times New Roman" panose="02020603050405020304" pitchFamily="18" charset="0"/>
              </a:rPr>
              <a:t>Khalidov</a:t>
            </a:r>
            <a:r>
              <a:rPr lang="en-US" altLang="en-US" sz="1600" dirty="0">
                <a:latin typeface="Times New Roman" panose="02020603050405020304" pitchFamily="18" charset="0"/>
                <a:cs typeface="Times New Roman" panose="02020603050405020304" pitchFamily="18" charset="0"/>
              </a:rPr>
              <a:t>, V., Labatut, P., Massa, F., . . . Ballas, N. (2025). V-JEPA 2: Self-Supervised Video Models Enable Understanding, Prediction and Planning. </a:t>
            </a:r>
            <a:r>
              <a:rPr lang="en-US" altLang="en-US" sz="1600" i="1" dirty="0" err="1">
                <a:latin typeface="Times New Roman" panose="02020603050405020304" pitchFamily="18" charset="0"/>
                <a:cs typeface="Times New Roman" panose="02020603050405020304" pitchFamily="18" charset="0"/>
              </a:rPr>
              <a:t>ArXiv</a:t>
            </a:r>
            <a:r>
              <a:rPr lang="en-US"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hlinkClick r:id="rId3"/>
              </a:rPr>
              <a:t>https://arxiv.org/abs/2506.09985</a:t>
            </a:r>
            <a:endParaRPr lang="en-US" alt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268558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75FBC4-9D33-46BE-911D-419763BA9AF9}">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94F055B-D391-44D3-A87A-BCD07BD5A3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{474AE494-E7E2-4E96-BCCF-1CC6AB688564}TF993b3720-55e5-4d3e-ae7c-1ec77a73f5a45edb12b8_win32-bce7b620edb8</Template>
  <TotalTime>212</TotalTime>
  <Words>1255</Words>
  <Application>Microsoft Office PowerPoint</Application>
  <PresentationFormat>Widescreen</PresentationFormat>
  <Paragraphs>115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Avenir Next LT Pro</vt:lpstr>
      <vt:lpstr>Avenir Next LT Pro Light</vt:lpstr>
      <vt:lpstr>Cambria Math</vt:lpstr>
      <vt:lpstr>Garamond</vt:lpstr>
      <vt:lpstr>Times New Roman</vt:lpstr>
      <vt:lpstr>SavonVTI</vt:lpstr>
      <vt:lpstr>CSD 454  COMPUTER VISION</vt:lpstr>
      <vt:lpstr>Efficient On-Device AR Navigation via Knowledge Distillation from VJEPA2</vt:lpstr>
      <vt:lpstr>Motivation — Why This Problem? </vt:lpstr>
      <vt:lpstr>Related Work in this Field ?</vt:lpstr>
      <vt:lpstr>Related Work (contd.)</vt:lpstr>
      <vt:lpstr>Research/System Gaps Identified </vt:lpstr>
      <vt:lpstr>Methodology Overview — Our Approach </vt:lpstr>
      <vt:lpstr>Detailed Methodology – The Teacher Architecture </vt:lpstr>
      <vt:lpstr>Detailed Methodology – The Student  Architecture </vt:lpstr>
      <vt:lpstr>Detailed Methodology — Knowledge Distillation Algorithm</vt:lpstr>
      <vt:lpstr>Detailed Methodology — Obstacle Detection Pipeline </vt:lpstr>
      <vt:lpstr>Detailed Methodology — Motion Tracking Pipeline </vt:lpstr>
      <vt:lpstr>PowerPoint Presentation</vt:lpstr>
      <vt:lpstr>Detailed Methodology — Dataset Strategy </vt:lpstr>
      <vt:lpstr>Results and Evaluation </vt:lpstr>
      <vt:lpstr>Summary </vt:lpstr>
      <vt:lpstr>Future work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Ruchir Sharma</dc:creator>
  <cp:lastModifiedBy>Ruchir Sharma</cp:lastModifiedBy>
  <cp:revision>1</cp:revision>
  <dcterms:created xsi:type="dcterms:W3CDTF">2026-04-24T10:50:35Z</dcterms:created>
  <dcterms:modified xsi:type="dcterms:W3CDTF">2026-04-28T18:09:57Z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